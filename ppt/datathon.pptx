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13F"/>
    <a:srgbClr val="3C4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82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20085-7751-43AA-912E-1364A4826E6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CE39F-C723-4278-A424-3F820E98F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79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CE39F-C723-4278-A424-3F820E98FDF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061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79401" y="994441"/>
            <a:ext cx="7529196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31474" y="753357"/>
            <a:ext cx="9625051" cy="13226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9962" y="2974016"/>
            <a:ext cx="11448074" cy="2425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746-018-0029-1?utm_source=chatgpt.com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arxiv.org/abs/1608.0574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data201635?utm_source=chatgpt.com" TargetMode="External"/><Relationship Id="rId11" Type="http://schemas.openxmlformats.org/officeDocument/2006/relationships/hyperlink" Target="https://arxiv.org/abs/1705.07874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s://arxiv.org/abs/1602.04938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arxiv.org/abs/1603.0275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876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sz="7700" b="1" spc="-625" dirty="0">
                <a:solidFill>
                  <a:srgbClr val="004AAC"/>
                </a:solidFill>
                <a:latin typeface="Verdana"/>
                <a:cs typeface="Verdana"/>
              </a:rPr>
              <a:t>D</a:t>
            </a:r>
            <a:r>
              <a:rPr sz="7700" b="1" spc="-925" dirty="0">
                <a:solidFill>
                  <a:srgbClr val="004AAC"/>
                </a:solidFill>
                <a:latin typeface="Verdana"/>
                <a:cs typeface="Verdana"/>
              </a:rPr>
              <a:t>A</a:t>
            </a:r>
            <a:r>
              <a:rPr sz="7700" b="1" spc="-880" dirty="0">
                <a:solidFill>
                  <a:srgbClr val="004AAC"/>
                </a:solidFill>
                <a:latin typeface="Verdana"/>
                <a:cs typeface="Verdana"/>
              </a:rPr>
              <a:t>T</a:t>
            </a:r>
            <a:r>
              <a:rPr sz="7700" b="1" spc="-925" dirty="0">
                <a:solidFill>
                  <a:srgbClr val="004AAC"/>
                </a:solidFill>
                <a:latin typeface="Verdana"/>
                <a:cs typeface="Verdana"/>
              </a:rPr>
              <a:t>A</a:t>
            </a:r>
            <a:r>
              <a:rPr sz="7700" b="1" spc="-195" dirty="0">
                <a:solidFill>
                  <a:srgbClr val="004AAC"/>
                </a:solidFill>
                <a:latin typeface="Verdana"/>
                <a:cs typeface="Verdana"/>
              </a:rPr>
              <a:t>T</a:t>
            </a:r>
            <a:r>
              <a:rPr sz="7700" b="1" spc="-200" dirty="0">
                <a:solidFill>
                  <a:srgbClr val="004AAC"/>
                </a:solidFill>
                <a:latin typeface="Verdana"/>
                <a:cs typeface="Verdana"/>
              </a:rPr>
              <a:t>HON-</a:t>
            </a:r>
            <a:r>
              <a:rPr sz="7700" b="1" spc="-955" dirty="0">
                <a:solidFill>
                  <a:srgbClr val="004AAC"/>
                </a:solidFill>
                <a:latin typeface="Verdana"/>
                <a:cs typeface="Verdana"/>
              </a:rPr>
              <a:t>2026</a:t>
            </a:r>
            <a:endParaRPr sz="77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148575" y="0"/>
            <a:ext cx="5139690" cy="5709920"/>
            <a:chOff x="13148575" y="0"/>
            <a:chExt cx="5139690" cy="57099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19067" y="1068984"/>
              <a:ext cx="2653088" cy="25812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148575" y="0"/>
              <a:ext cx="5139690" cy="1254125"/>
            </a:xfrm>
            <a:custGeom>
              <a:avLst/>
              <a:gdLst/>
              <a:ahLst/>
              <a:cxnLst/>
              <a:rect l="l" t="t" r="r" b="b"/>
              <a:pathLst>
                <a:path w="5139690" h="1254125">
                  <a:moveTo>
                    <a:pt x="5139422" y="519002"/>
                  </a:moveTo>
                  <a:lnTo>
                    <a:pt x="5139422" y="686057"/>
                  </a:lnTo>
                  <a:lnTo>
                    <a:pt x="4647218" y="1253662"/>
                  </a:lnTo>
                  <a:lnTo>
                    <a:pt x="4647459" y="1253662"/>
                  </a:lnTo>
                  <a:lnTo>
                    <a:pt x="4570154" y="1192196"/>
                  </a:lnTo>
                  <a:lnTo>
                    <a:pt x="5139422" y="519002"/>
                  </a:lnTo>
                  <a:close/>
                </a:path>
                <a:path w="5139690" h="1254125">
                  <a:moveTo>
                    <a:pt x="3425426" y="451259"/>
                  </a:moveTo>
                  <a:lnTo>
                    <a:pt x="3617996" y="451259"/>
                  </a:lnTo>
                  <a:lnTo>
                    <a:pt x="3610114" y="454400"/>
                  </a:lnTo>
                  <a:lnTo>
                    <a:pt x="3602232" y="459142"/>
                  </a:lnTo>
                  <a:lnTo>
                    <a:pt x="2854952" y="1206360"/>
                  </a:lnTo>
                  <a:lnTo>
                    <a:pt x="2790354" y="1148043"/>
                  </a:lnTo>
                  <a:lnTo>
                    <a:pt x="3425426" y="451259"/>
                  </a:lnTo>
                  <a:close/>
                </a:path>
                <a:path w="5139690" h="1254125">
                  <a:moveTo>
                    <a:pt x="3836720" y="0"/>
                  </a:moveTo>
                  <a:lnTo>
                    <a:pt x="5139422" y="0"/>
                  </a:lnTo>
                  <a:lnTo>
                    <a:pt x="5139422" y="375121"/>
                  </a:lnTo>
                  <a:lnTo>
                    <a:pt x="4497674" y="1133818"/>
                  </a:lnTo>
                  <a:lnTo>
                    <a:pt x="3657408" y="459142"/>
                  </a:lnTo>
                  <a:lnTo>
                    <a:pt x="3651065" y="454400"/>
                  </a:lnTo>
                  <a:lnTo>
                    <a:pt x="3643183" y="451259"/>
                  </a:lnTo>
                  <a:lnTo>
                    <a:pt x="3425426" y="451259"/>
                  </a:lnTo>
                  <a:lnTo>
                    <a:pt x="3836720" y="0"/>
                  </a:lnTo>
                  <a:close/>
                </a:path>
                <a:path w="5139690" h="1254125">
                  <a:moveTo>
                    <a:pt x="0" y="0"/>
                  </a:moveTo>
                  <a:lnTo>
                    <a:pt x="841137" y="0"/>
                  </a:lnTo>
                  <a:lnTo>
                    <a:pt x="419320" y="403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634156" y="0"/>
              <a:ext cx="3221355" cy="1082040"/>
            </a:xfrm>
            <a:custGeom>
              <a:avLst/>
              <a:gdLst/>
              <a:ahLst/>
              <a:cxnLst/>
              <a:rect l="l" t="t" r="r" b="b"/>
              <a:pathLst>
                <a:path w="3221355" h="1082040">
                  <a:moveTo>
                    <a:pt x="489925" y="0"/>
                  </a:moveTo>
                  <a:lnTo>
                    <a:pt x="713024" y="0"/>
                  </a:lnTo>
                  <a:lnTo>
                    <a:pt x="696783" y="14530"/>
                  </a:lnTo>
                  <a:lnTo>
                    <a:pt x="685760" y="22413"/>
                  </a:lnTo>
                  <a:lnTo>
                    <a:pt x="679417" y="30295"/>
                  </a:lnTo>
                  <a:lnTo>
                    <a:pt x="92986" y="556870"/>
                  </a:lnTo>
                  <a:lnTo>
                    <a:pt x="0" y="468564"/>
                  </a:lnTo>
                  <a:lnTo>
                    <a:pt x="489925" y="0"/>
                  </a:lnTo>
                  <a:close/>
                </a:path>
                <a:path w="3221355" h="1082040">
                  <a:moveTo>
                    <a:pt x="1039696" y="0"/>
                  </a:moveTo>
                  <a:lnTo>
                    <a:pt x="3221105" y="0"/>
                  </a:lnTo>
                  <a:lnTo>
                    <a:pt x="2232232" y="1081844"/>
                  </a:lnTo>
                  <a:lnTo>
                    <a:pt x="1039696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99212" y="0"/>
              <a:ext cx="3320415" cy="1510030"/>
            </a:xfrm>
            <a:custGeom>
              <a:avLst/>
              <a:gdLst/>
              <a:ahLst/>
              <a:cxnLst/>
              <a:rect l="l" t="t" r="r" b="b"/>
              <a:pathLst>
                <a:path w="3320415" h="1510030">
                  <a:moveTo>
                    <a:pt x="2681523" y="560011"/>
                  </a:moveTo>
                  <a:lnTo>
                    <a:pt x="3319990" y="1072361"/>
                  </a:lnTo>
                  <a:lnTo>
                    <a:pt x="2921516" y="1509900"/>
                  </a:lnTo>
                  <a:lnTo>
                    <a:pt x="2914757" y="1509900"/>
                  </a:lnTo>
                  <a:lnTo>
                    <a:pt x="2257480" y="984054"/>
                  </a:lnTo>
                  <a:lnTo>
                    <a:pt x="2681523" y="560011"/>
                  </a:lnTo>
                  <a:close/>
                </a:path>
                <a:path w="3320415" h="1510030">
                  <a:moveTo>
                    <a:pt x="255374" y="121742"/>
                  </a:moveTo>
                  <a:lnTo>
                    <a:pt x="774005" y="640435"/>
                  </a:lnTo>
                  <a:lnTo>
                    <a:pt x="531255" y="883185"/>
                  </a:lnTo>
                  <a:lnTo>
                    <a:pt x="0" y="351930"/>
                  </a:lnTo>
                  <a:lnTo>
                    <a:pt x="130797" y="235235"/>
                  </a:lnTo>
                  <a:lnTo>
                    <a:pt x="129257" y="235235"/>
                  </a:lnTo>
                  <a:lnTo>
                    <a:pt x="255374" y="121742"/>
                  </a:lnTo>
                  <a:close/>
                </a:path>
                <a:path w="3320415" h="1510030">
                  <a:moveTo>
                    <a:pt x="390522" y="0"/>
                  </a:moveTo>
                  <a:lnTo>
                    <a:pt x="435048" y="0"/>
                  </a:lnTo>
                  <a:lnTo>
                    <a:pt x="945876" y="467024"/>
                  </a:lnTo>
                  <a:lnTo>
                    <a:pt x="838665" y="574174"/>
                  </a:lnTo>
                  <a:lnTo>
                    <a:pt x="323174" y="60285"/>
                  </a:lnTo>
                  <a:lnTo>
                    <a:pt x="390522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494693" y="3260583"/>
              <a:ext cx="793750" cy="2078355"/>
            </a:xfrm>
            <a:custGeom>
              <a:avLst/>
              <a:gdLst/>
              <a:ahLst/>
              <a:cxnLst/>
              <a:rect l="l" t="t" r="r" b="b"/>
              <a:pathLst>
                <a:path w="793750" h="2078354">
                  <a:moveTo>
                    <a:pt x="0" y="2077980"/>
                  </a:moveTo>
                  <a:lnTo>
                    <a:pt x="0" y="949514"/>
                  </a:lnTo>
                  <a:lnTo>
                    <a:pt x="793306" y="0"/>
                  </a:lnTo>
                  <a:lnTo>
                    <a:pt x="793306" y="1128465"/>
                  </a:lnTo>
                  <a:lnTo>
                    <a:pt x="0" y="207798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494720" y="926021"/>
              <a:ext cx="793750" cy="2969260"/>
            </a:xfrm>
            <a:custGeom>
              <a:avLst/>
              <a:gdLst/>
              <a:ahLst/>
              <a:cxnLst/>
              <a:rect l="l" t="t" r="r" b="b"/>
              <a:pathLst>
                <a:path w="793750" h="2969260">
                  <a:moveTo>
                    <a:pt x="0" y="2968780"/>
                  </a:moveTo>
                  <a:lnTo>
                    <a:pt x="0" y="949482"/>
                  </a:lnTo>
                  <a:lnTo>
                    <a:pt x="793279" y="0"/>
                  </a:lnTo>
                  <a:lnTo>
                    <a:pt x="793279" y="2019298"/>
                  </a:lnTo>
                  <a:lnTo>
                    <a:pt x="0" y="296878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947848" y="4552668"/>
              <a:ext cx="340360" cy="1156970"/>
            </a:xfrm>
            <a:custGeom>
              <a:avLst/>
              <a:gdLst/>
              <a:ahLst/>
              <a:cxnLst/>
              <a:rect l="l" t="t" r="r" b="b"/>
              <a:pathLst>
                <a:path w="340359" h="1156970">
                  <a:moveTo>
                    <a:pt x="0" y="1156768"/>
                  </a:moveTo>
                  <a:lnTo>
                    <a:pt x="0" y="407130"/>
                  </a:lnTo>
                  <a:lnTo>
                    <a:pt x="340151" y="0"/>
                  </a:lnTo>
                  <a:lnTo>
                    <a:pt x="340151" y="749638"/>
                  </a:lnTo>
                  <a:lnTo>
                    <a:pt x="0" y="1156768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491538" y="2568962"/>
              <a:ext cx="796925" cy="1649730"/>
            </a:xfrm>
            <a:custGeom>
              <a:avLst/>
              <a:gdLst/>
              <a:ahLst/>
              <a:cxnLst/>
              <a:rect l="l" t="t" r="r" b="b"/>
              <a:pathLst>
                <a:path w="796925" h="1649729">
                  <a:moveTo>
                    <a:pt x="796459" y="542627"/>
                  </a:moveTo>
                  <a:lnTo>
                    <a:pt x="796459" y="730877"/>
                  </a:lnTo>
                  <a:lnTo>
                    <a:pt x="0" y="1649347"/>
                  </a:lnTo>
                  <a:lnTo>
                    <a:pt x="0" y="1484490"/>
                  </a:lnTo>
                  <a:lnTo>
                    <a:pt x="796459" y="542627"/>
                  </a:lnTo>
                  <a:close/>
                </a:path>
                <a:path w="796925" h="1649729">
                  <a:moveTo>
                    <a:pt x="0" y="0"/>
                  </a:moveTo>
                  <a:lnTo>
                    <a:pt x="796459" y="0"/>
                  </a:lnTo>
                  <a:lnTo>
                    <a:pt x="796459" y="398982"/>
                  </a:lnTo>
                  <a:lnTo>
                    <a:pt x="0" y="1340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0" y="4528729"/>
            <a:ext cx="5168265" cy="5758815"/>
            <a:chOff x="0" y="4528729"/>
            <a:chExt cx="5168265" cy="5758815"/>
          </a:xfrm>
        </p:grpSpPr>
        <p:sp>
          <p:nvSpPr>
            <p:cNvPr id="19" name="object 19"/>
            <p:cNvSpPr/>
            <p:nvPr/>
          </p:nvSpPr>
          <p:spPr>
            <a:xfrm>
              <a:off x="0" y="8984529"/>
              <a:ext cx="5168265" cy="1303020"/>
            </a:xfrm>
            <a:custGeom>
              <a:avLst/>
              <a:gdLst/>
              <a:ahLst/>
              <a:cxnLst/>
              <a:rect l="l" t="t" r="r" b="b"/>
              <a:pathLst>
                <a:path w="5168265" h="1303020">
                  <a:moveTo>
                    <a:pt x="0" y="708156"/>
                  </a:moveTo>
                  <a:lnTo>
                    <a:pt x="0" y="541760"/>
                  </a:lnTo>
                  <a:lnTo>
                    <a:pt x="469792" y="0"/>
                  </a:lnTo>
                  <a:lnTo>
                    <a:pt x="469551" y="0"/>
                  </a:lnTo>
                  <a:lnTo>
                    <a:pt x="546855" y="61465"/>
                  </a:lnTo>
                  <a:lnTo>
                    <a:pt x="0" y="708156"/>
                  </a:lnTo>
                  <a:close/>
                </a:path>
                <a:path w="5168265" h="1303020">
                  <a:moveTo>
                    <a:pt x="1691584" y="802402"/>
                  </a:moveTo>
                  <a:lnTo>
                    <a:pt x="1499014" y="802402"/>
                  </a:lnTo>
                  <a:lnTo>
                    <a:pt x="1506896" y="799261"/>
                  </a:lnTo>
                  <a:lnTo>
                    <a:pt x="1514778" y="794519"/>
                  </a:lnTo>
                  <a:lnTo>
                    <a:pt x="2262058" y="47301"/>
                  </a:lnTo>
                  <a:lnTo>
                    <a:pt x="2326656" y="105618"/>
                  </a:lnTo>
                  <a:lnTo>
                    <a:pt x="1691584" y="802402"/>
                  </a:lnTo>
                  <a:close/>
                </a:path>
                <a:path w="5168265" h="1303020">
                  <a:moveTo>
                    <a:pt x="1235805" y="1302469"/>
                  </a:moveTo>
                  <a:lnTo>
                    <a:pt x="0" y="1302469"/>
                  </a:lnTo>
                  <a:lnTo>
                    <a:pt x="0" y="852045"/>
                  </a:lnTo>
                  <a:lnTo>
                    <a:pt x="619336" y="119843"/>
                  </a:lnTo>
                  <a:lnTo>
                    <a:pt x="1459602" y="794519"/>
                  </a:lnTo>
                  <a:lnTo>
                    <a:pt x="1465945" y="799261"/>
                  </a:lnTo>
                  <a:lnTo>
                    <a:pt x="1473827" y="802402"/>
                  </a:lnTo>
                  <a:lnTo>
                    <a:pt x="1691584" y="802402"/>
                  </a:lnTo>
                  <a:lnTo>
                    <a:pt x="1235805" y="1302469"/>
                  </a:lnTo>
                  <a:close/>
                </a:path>
                <a:path w="5168265" h="1303020">
                  <a:moveTo>
                    <a:pt x="5167673" y="1302469"/>
                  </a:moveTo>
                  <a:lnTo>
                    <a:pt x="4224908" y="1302469"/>
                  </a:lnTo>
                  <a:lnTo>
                    <a:pt x="4697690" y="849696"/>
                  </a:lnTo>
                  <a:lnTo>
                    <a:pt x="5167673" y="1302469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65711" y="9156347"/>
              <a:ext cx="3265804" cy="1130935"/>
            </a:xfrm>
            <a:custGeom>
              <a:avLst/>
              <a:gdLst/>
              <a:ahLst/>
              <a:cxnLst/>
              <a:rect l="l" t="t" r="r" b="b"/>
              <a:pathLst>
                <a:path w="3265804" h="1130934">
                  <a:moveTo>
                    <a:pt x="2724760" y="1130652"/>
                  </a:moveTo>
                  <a:lnTo>
                    <a:pt x="2498145" y="1130652"/>
                  </a:lnTo>
                  <a:lnTo>
                    <a:pt x="2568935" y="1067313"/>
                  </a:lnTo>
                  <a:lnTo>
                    <a:pt x="2579958" y="1059431"/>
                  </a:lnTo>
                  <a:lnTo>
                    <a:pt x="2586301" y="1051548"/>
                  </a:lnTo>
                  <a:lnTo>
                    <a:pt x="3172732" y="524973"/>
                  </a:lnTo>
                  <a:lnTo>
                    <a:pt x="3265719" y="613280"/>
                  </a:lnTo>
                  <a:lnTo>
                    <a:pt x="2724760" y="1130652"/>
                  </a:lnTo>
                  <a:close/>
                </a:path>
                <a:path w="3265804" h="1130934">
                  <a:moveTo>
                    <a:pt x="2279823" y="1130652"/>
                  </a:moveTo>
                  <a:lnTo>
                    <a:pt x="0" y="1130652"/>
                  </a:lnTo>
                  <a:lnTo>
                    <a:pt x="1033486" y="0"/>
                  </a:lnTo>
                  <a:lnTo>
                    <a:pt x="2279823" y="1130652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6383" y="8728291"/>
              <a:ext cx="3320415" cy="1530350"/>
            </a:xfrm>
            <a:custGeom>
              <a:avLst/>
              <a:gdLst/>
              <a:ahLst/>
              <a:cxnLst/>
              <a:rect l="l" t="t" r="r" b="b"/>
              <a:pathLst>
                <a:path w="3320415" h="1530350">
                  <a:moveTo>
                    <a:pt x="638466" y="949889"/>
                  </a:moveTo>
                  <a:lnTo>
                    <a:pt x="0" y="437539"/>
                  </a:lnTo>
                  <a:lnTo>
                    <a:pt x="398473" y="0"/>
                  </a:lnTo>
                  <a:lnTo>
                    <a:pt x="405233" y="0"/>
                  </a:lnTo>
                  <a:lnTo>
                    <a:pt x="1062510" y="525845"/>
                  </a:lnTo>
                  <a:lnTo>
                    <a:pt x="638466" y="949889"/>
                  </a:lnTo>
                  <a:close/>
                </a:path>
                <a:path w="3320415" h="1530350">
                  <a:moveTo>
                    <a:pt x="3064616" y="1388157"/>
                  </a:moveTo>
                  <a:lnTo>
                    <a:pt x="2545984" y="869465"/>
                  </a:lnTo>
                  <a:lnTo>
                    <a:pt x="2788735" y="626714"/>
                  </a:lnTo>
                  <a:lnTo>
                    <a:pt x="3319990" y="1157969"/>
                  </a:lnTo>
                  <a:lnTo>
                    <a:pt x="3189193" y="1274665"/>
                  </a:lnTo>
                  <a:lnTo>
                    <a:pt x="3190733" y="1274665"/>
                  </a:lnTo>
                  <a:lnTo>
                    <a:pt x="3064616" y="1388157"/>
                  </a:lnTo>
                  <a:close/>
                </a:path>
                <a:path w="3320415" h="1530350">
                  <a:moveTo>
                    <a:pt x="2906970" y="1530039"/>
                  </a:moveTo>
                  <a:lnTo>
                    <a:pt x="2374113" y="1042875"/>
                  </a:lnTo>
                  <a:lnTo>
                    <a:pt x="2481325" y="935725"/>
                  </a:lnTo>
                  <a:lnTo>
                    <a:pt x="2996816" y="1449615"/>
                  </a:lnTo>
                  <a:lnTo>
                    <a:pt x="2906970" y="1530039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4899507"/>
              <a:ext cx="770890" cy="2051685"/>
            </a:xfrm>
            <a:custGeom>
              <a:avLst/>
              <a:gdLst/>
              <a:ahLst/>
              <a:cxnLst/>
              <a:rect l="l" t="t" r="r" b="b"/>
              <a:pathLst>
                <a:path w="770890" h="2051684">
                  <a:moveTo>
                    <a:pt x="770875" y="0"/>
                  </a:moveTo>
                  <a:lnTo>
                    <a:pt x="770875" y="1128465"/>
                  </a:lnTo>
                  <a:lnTo>
                    <a:pt x="0" y="2051133"/>
                  </a:lnTo>
                  <a:lnTo>
                    <a:pt x="0" y="922667"/>
                  </a:lnTo>
                  <a:lnTo>
                    <a:pt x="770875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6343268"/>
              <a:ext cx="771525" cy="2942590"/>
            </a:xfrm>
            <a:custGeom>
              <a:avLst/>
              <a:gdLst/>
              <a:ahLst/>
              <a:cxnLst/>
              <a:rect l="l" t="t" r="r" b="b"/>
              <a:pathLst>
                <a:path w="771525" h="2942590">
                  <a:moveTo>
                    <a:pt x="770901" y="0"/>
                  </a:moveTo>
                  <a:lnTo>
                    <a:pt x="770901" y="2019297"/>
                  </a:lnTo>
                  <a:lnTo>
                    <a:pt x="0" y="2941996"/>
                  </a:lnTo>
                  <a:lnTo>
                    <a:pt x="0" y="922699"/>
                  </a:lnTo>
                  <a:lnTo>
                    <a:pt x="770901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4528729"/>
              <a:ext cx="318135" cy="1130300"/>
            </a:xfrm>
            <a:custGeom>
              <a:avLst/>
              <a:gdLst/>
              <a:ahLst/>
              <a:cxnLst/>
              <a:rect l="l" t="t" r="r" b="b"/>
              <a:pathLst>
                <a:path w="318135" h="1130300">
                  <a:moveTo>
                    <a:pt x="317691" y="0"/>
                  </a:moveTo>
                  <a:lnTo>
                    <a:pt x="317691" y="749638"/>
                  </a:lnTo>
                  <a:lnTo>
                    <a:pt x="0" y="1129885"/>
                  </a:lnTo>
                  <a:lnTo>
                    <a:pt x="0" y="380247"/>
                  </a:lnTo>
                  <a:lnTo>
                    <a:pt x="317691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0" y="6019881"/>
              <a:ext cx="774700" cy="1649730"/>
            </a:xfrm>
            <a:custGeom>
              <a:avLst/>
              <a:gdLst/>
              <a:ahLst/>
              <a:cxnLst/>
              <a:rect l="l" t="t" r="r" b="b"/>
              <a:pathLst>
                <a:path w="774700" h="1649729">
                  <a:moveTo>
                    <a:pt x="0" y="1080285"/>
                  </a:moveTo>
                  <a:lnTo>
                    <a:pt x="0" y="892692"/>
                  </a:lnTo>
                  <a:lnTo>
                    <a:pt x="774106" y="0"/>
                  </a:lnTo>
                  <a:lnTo>
                    <a:pt x="774106" y="164857"/>
                  </a:lnTo>
                  <a:lnTo>
                    <a:pt x="0" y="1080285"/>
                  </a:lnTo>
                  <a:close/>
                </a:path>
                <a:path w="774700" h="1649729">
                  <a:moveTo>
                    <a:pt x="774106" y="1649347"/>
                  </a:moveTo>
                  <a:lnTo>
                    <a:pt x="0" y="1649347"/>
                  </a:lnTo>
                  <a:lnTo>
                    <a:pt x="0" y="1223938"/>
                  </a:lnTo>
                  <a:lnTo>
                    <a:pt x="774106" y="308762"/>
                  </a:lnTo>
                  <a:lnTo>
                    <a:pt x="774106" y="1649347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2403" y="7699609"/>
            <a:ext cx="5065601" cy="258738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4718908" cy="2510128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400712" y="2439710"/>
            <a:ext cx="16963488" cy="6155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0155">
              <a:lnSpc>
                <a:spcPct val="100000"/>
              </a:lnSpc>
              <a:spcBef>
                <a:spcPts val="100"/>
              </a:spcBef>
            </a:pPr>
            <a:r>
              <a:rPr lang="en-US" sz="4800" b="1" dirty="0">
                <a:latin typeface="Arial"/>
                <a:cs typeface="Arial"/>
              </a:rPr>
              <a:t>TITLE</a:t>
            </a:r>
            <a:r>
              <a:rPr lang="en-US" sz="4800" b="1" spc="-105" dirty="0">
                <a:latin typeface="Arial"/>
                <a:cs typeface="Arial"/>
              </a:rPr>
              <a:t> </a:t>
            </a:r>
            <a:r>
              <a:rPr lang="en-US" sz="4800" b="1" spc="-150" dirty="0">
                <a:latin typeface="Arial"/>
                <a:cs typeface="Arial"/>
              </a:rPr>
              <a:t>PAGE</a:t>
            </a:r>
            <a:endParaRPr lang="en-US" sz="4800" dirty="0">
              <a:latin typeface="Arial"/>
              <a:cs typeface="Arial"/>
            </a:endParaRPr>
          </a:p>
          <a:p>
            <a:pPr marL="12700" marR="2904490">
              <a:lnSpc>
                <a:spcPct val="117100"/>
              </a:lnSpc>
              <a:spcBef>
                <a:spcPts val="4485"/>
              </a:spcBef>
            </a:pPr>
            <a:r>
              <a:rPr lang="en-US" sz="4000" dirty="0"/>
              <a:t>• Problem Statement ID – 10</a:t>
            </a:r>
            <a:br>
              <a:rPr lang="en-US" sz="4000" dirty="0"/>
            </a:br>
            <a:r>
              <a:rPr lang="en-US" sz="4000" dirty="0"/>
              <a:t>• Problem Statement Title – Predictive Healthcare Analytics</a:t>
            </a:r>
            <a:br>
              <a:rPr lang="en-US" sz="4000" dirty="0"/>
            </a:br>
            <a:r>
              <a:rPr lang="en-US" sz="4000" dirty="0"/>
              <a:t>• Theme – Healthcare</a:t>
            </a:r>
            <a:br>
              <a:rPr lang="en-US" sz="4000" dirty="0"/>
            </a:br>
            <a:r>
              <a:rPr lang="en-US" sz="4000" dirty="0"/>
              <a:t>• PS Category – Software</a:t>
            </a:r>
            <a:br>
              <a:rPr lang="en-US" sz="4000" dirty="0"/>
            </a:br>
            <a:r>
              <a:rPr lang="en-US" sz="4000" dirty="0"/>
              <a:t>• Team Name (Registered on portal) – Infinity Loop</a:t>
            </a:r>
          </a:p>
          <a:p>
            <a:pPr marL="12700" marR="2904490">
              <a:lnSpc>
                <a:spcPct val="117100"/>
              </a:lnSpc>
              <a:spcBef>
                <a:spcPts val="4485"/>
              </a:spcBef>
            </a:pPr>
            <a:endParaRPr lang="en-US" sz="3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">
            <a:extLst>
              <a:ext uri="{FF2B5EF4-FFF2-40B4-BE49-F238E27FC236}">
                <a16:creationId xmlns:a16="http://schemas.microsoft.com/office/drawing/2014/main" id="{4B29F1AA-103E-4E67-9FAF-18710E6D15FE}"/>
              </a:ext>
            </a:extLst>
          </p:cNvPr>
          <p:cNvSpPr/>
          <p:nvPr/>
        </p:nvSpPr>
        <p:spPr>
          <a:xfrm>
            <a:off x="1668165" y="2430120"/>
            <a:ext cx="15481791" cy="1727969"/>
          </a:xfrm>
          <a:prstGeom prst="roundRect">
            <a:avLst>
              <a:gd name="adj" fmla="val 1037"/>
            </a:avLst>
          </a:prstGeom>
          <a:solidFill>
            <a:srgbClr val="E9ECF2"/>
          </a:solidFill>
          <a:ln/>
        </p:spPr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63074" y="586479"/>
            <a:ext cx="13440868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3840">
              <a:lnSpc>
                <a:spcPct val="100000"/>
              </a:lnSpc>
              <a:spcBef>
                <a:spcPts val="100"/>
              </a:spcBef>
            </a:pP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ReadmitIQ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AI-Powered Hospital Readmission Prediction Platform</a:t>
            </a:r>
            <a:endParaRPr sz="4400" spc="-5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36730" y="4510149"/>
            <a:ext cx="5168265" cy="5758815"/>
            <a:chOff x="0" y="4528763"/>
            <a:chExt cx="5168265" cy="5758815"/>
          </a:xfrm>
        </p:grpSpPr>
        <p:sp>
          <p:nvSpPr>
            <p:cNvPr id="10" name="object 10"/>
            <p:cNvSpPr/>
            <p:nvPr/>
          </p:nvSpPr>
          <p:spPr>
            <a:xfrm>
              <a:off x="0" y="8984538"/>
              <a:ext cx="5168265" cy="1303020"/>
            </a:xfrm>
            <a:custGeom>
              <a:avLst/>
              <a:gdLst/>
              <a:ahLst/>
              <a:cxnLst/>
              <a:rect l="l" t="t" r="r" b="b"/>
              <a:pathLst>
                <a:path w="5168265" h="1303020">
                  <a:moveTo>
                    <a:pt x="0" y="708156"/>
                  </a:moveTo>
                  <a:lnTo>
                    <a:pt x="0" y="541760"/>
                  </a:lnTo>
                  <a:lnTo>
                    <a:pt x="469792" y="0"/>
                  </a:lnTo>
                  <a:lnTo>
                    <a:pt x="469551" y="0"/>
                  </a:lnTo>
                  <a:lnTo>
                    <a:pt x="546855" y="61465"/>
                  </a:lnTo>
                  <a:lnTo>
                    <a:pt x="0" y="708156"/>
                  </a:lnTo>
                  <a:close/>
                </a:path>
                <a:path w="5168265" h="1303020">
                  <a:moveTo>
                    <a:pt x="1691584" y="802402"/>
                  </a:moveTo>
                  <a:lnTo>
                    <a:pt x="1499014" y="802402"/>
                  </a:lnTo>
                  <a:lnTo>
                    <a:pt x="1506896" y="799261"/>
                  </a:lnTo>
                  <a:lnTo>
                    <a:pt x="1514778" y="794519"/>
                  </a:lnTo>
                  <a:lnTo>
                    <a:pt x="2262058" y="47301"/>
                  </a:lnTo>
                  <a:lnTo>
                    <a:pt x="2326656" y="105618"/>
                  </a:lnTo>
                  <a:lnTo>
                    <a:pt x="1691584" y="802402"/>
                  </a:lnTo>
                  <a:close/>
                </a:path>
                <a:path w="5168265" h="1303020">
                  <a:moveTo>
                    <a:pt x="1235813" y="1302461"/>
                  </a:moveTo>
                  <a:lnTo>
                    <a:pt x="0" y="1302461"/>
                  </a:lnTo>
                  <a:lnTo>
                    <a:pt x="0" y="852045"/>
                  </a:lnTo>
                  <a:lnTo>
                    <a:pt x="619336" y="119843"/>
                  </a:lnTo>
                  <a:lnTo>
                    <a:pt x="1459602" y="794519"/>
                  </a:lnTo>
                  <a:lnTo>
                    <a:pt x="1465945" y="799261"/>
                  </a:lnTo>
                  <a:lnTo>
                    <a:pt x="1473827" y="802402"/>
                  </a:lnTo>
                  <a:lnTo>
                    <a:pt x="1691584" y="802402"/>
                  </a:lnTo>
                  <a:lnTo>
                    <a:pt x="1235813" y="1302461"/>
                  </a:lnTo>
                  <a:close/>
                </a:path>
                <a:path w="5168265" h="1303020">
                  <a:moveTo>
                    <a:pt x="5167665" y="1302461"/>
                  </a:moveTo>
                  <a:lnTo>
                    <a:pt x="4224917" y="1302461"/>
                  </a:lnTo>
                  <a:lnTo>
                    <a:pt x="4697690" y="849696"/>
                  </a:lnTo>
                  <a:lnTo>
                    <a:pt x="5167665" y="1302461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65718" y="9156355"/>
              <a:ext cx="3265804" cy="1130935"/>
            </a:xfrm>
            <a:custGeom>
              <a:avLst/>
              <a:gdLst/>
              <a:ahLst/>
              <a:cxnLst/>
              <a:rect l="l" t="t" r="r" b="b"/>
              <a:pathLst>
                <a:path w="3265804" h="1130934">
                  <a:moveTo>
                    <a:pt x="2724761" y="1130643"/>
                  </a:moveTo>
                  <a:lnTo>
                    <a:pt x="2498146" y="1130643"/>
                  </a:lnTo>
                  <a:lnTo>
                    <a:pt x="2568927" y="1067313"/>
                  </a:lnTo>
                  <a:lnTo>
                    <a:pt x="2579950" y="1059431"/>
                  </a:lnTo>
                  <a:lnTo>
                    <a:pt x="2586293" y="1051548"/>
                  </a:lnTo>
                  <a:lnTo>
                    <a:pt x="3172724" y="524973"/>
                  </a:lnTo>
                  <a:lnTo>
                    <a:pt x="3265711" y="613280"/>
                  </a:lnTo>
                  <a:lnTo>
                    <a:pt x="2724761" y="1130643"/>
                  </a:lnTo>
                  <a:close/>
                </a:path>
                <a:path w="3265804" h="1130934">
                  <a:moveTo>
                    <a:pt x="2279807" y="1130643"/>
                  </a:moveTo>
                  <a:lnTo>
                    <a:pt x="0" y="1130643"/>
                  </a:lnTo>
                  <a:lnTo>
                    <a:pt x="1033479" y="0"/>
                  </a:lnTo>
                  <a:lnTo>
                    <a:pt x="2279807" y="1130643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46383" y="8728299"/>
              <a:ext cx="3320415" cy="1530350"/>
            </a:xfrm>
            <a:custGeom>
              <a:avLst/>
              <a:gdLst/>
              <a:ahLst/>
              <a:cxnLst/>
              <a:rect l="l" t="t" r="r" b="b"/>
              <a:pathLst>
                <a:path w="3320415" h="1530350">
                  <a:moveTo>
                    <a:pt x="638466" y="949889"/>
                  </a:moveTo>
                  <a:lnTo>
                    <a:pt x="0" y="437539"/>
                  </a:lnTo>
                  <a:lnTo>
                    <a:pt x="398473" y="0"/>
                  </a:lnTo>
                  <a:lnTo>
                    <a:pt x="405233" y="0"/>
                  </a:lnTo>
                  <a:lnTo>
                    <a:pt x="1062510" y="525845"/>
                  </a:lnTo>
                  <a:lnTo>
                    <a:pt x="638466" y="949889"/>
                  </a:lnTo>
                  <a:close/>
                </a:path>
                <a:path w="3320415" h="1530350">
                  <a:moveTo>
                    <a:pt x="3064616" y="1388157"/>
                  </a:moveTo>
                  <a:lnTo>
                    <a:pt x="2545984" y="869465"/>
                  </a:lnTo>
                  <a:lnTo>
                    <a:pt x="2788735" y="626714"/>
                  </a:lnTo>
                  <a:lnTo>
                    <a:pt x="3319990" y="1157969"/>
                  </a:lnTo>
                  <a:lnTo>
                    <a:pt x="3189193" y="1274664"/>
                  </a:lnTo>
                  <a:lnTo>
                    <a:pt x="3190733" y="1274664"/>
                  </a:lnTo>
                  <a:lnTo>
                    <a:pt x="3064616" y="1388157"/>
                  </a:lnTo>
                  <a:close/>
                </a:path>
                <a:path w="3320415" h="1530350">
                  <a:moveTo>
                    <a:pt x="2906970" y="1530039"/>
                  </a:moveTo>
                  <a:lnTo>
                    <a:pt x="2374113" y="1042875"/>
                  </a:lnTo>
                  <a:lnTo>
                    <a:pt x="2481325" y="935725"/>
                  </a:lnTo>
                  <a:lnTo>
                    <a:pt x="2996816" y="1449615"/>
                  </a:lnTo>
                  <a:lnTo>
                    <a:pt x="2906970" y="1530039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4899636"/>
              <a:ext cx="770890" cy="2051685"/>
            </a:xfrm>
            <a:custGeom>
              <a:avLst/>
              <a:gdLst/>
              <a:ahLst/>
              <a:cxnLst/>
              <a:rect l="l" t="t" r="r" b="b"/>
              <a:pathLst>
                <a:path w="770890" h="2051684">
                  <a:moveTo>
                    <a:pt x="770894" y="0"/>
                  </a:moveTo>
                  <a:lnTo>
                    <a:pt x="770894" y="1128465"/>
                  </a:lnTo>
                  <a:lnTo>
                    <a:pt x="0" y="2051155"/>
                  </a:lnTo>
                  <a:lnTo>
                    <a:pt x="0" y="922689"/>
                  </a:lnTo>
                  <a:lnTo>
                    <a:pt x="770894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343398"/>
              <a:ext cx="770890" cy="2941955"/>
            </a:xfrm>
            <a:custGeom>
              <a:avLst/>
              <a:gdLst/>
              <a:ahLst/>
              <a:cxnLst/>
              <a:rect l="l" t="t" r="r" b="b"/>
              <a:pathLst>
                <a:path w="770890" h="2941954">
                  <a:moveTo>
                    <a:pt x="770867" y="0"/>
                  </a:moveTo>
                  <a:lnTo>
                    <a:pt x="770867" y="2019297"/>
                  </a:lnTo>
                  <a:lnTo>
                    <a:pt x="0" y="2941956"/>
                  </a:lnTo>
                  <a:lnTo>
                    <a:pt x="0" y="922658"/>
                  </a:lnTo>
                  <a:lnTo>
                    <a:pt x="770867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4528763"/>
              <a:ext cx="318135" cy="1130300"/>
            </a:xfrm>
            <a:custGeom>
              <a:avLst/>
              <a:gdLst/>
              <a:ahLst/>
              <a:cxnLst/>
              <a:rect l="l" t="t" r="r" b="b"/>
              <a:pathLst>
                <a:path w="318135" h="1130300">
                  <a:moveTo>
                    <a:pt x="317739" y="0"/>
                  </a:moveTo>
                  <a:lnTo>
                    <a:pt x="317739" y="749638"/>
                  </a:lnTo>
                  <a:lnTo>
                    <a:pt x="0" y="1129943"/>
                  </a:lnTo>
                  <a:lnTo>
                    <a:pt x="0" y="380305"/>
                  </a:lnTo>
                  <a:lnTo>
                    <a:pt x="317739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019890"/>
              <a:ext cx="774065" cy="1649730"/>
            </a:xfrm>
            <a:custGeom>
              <a:avLst/>
              <a:gdLst/>
              <a:ahLst/>
              <a:cxnLst/>
              <a:rect l="l" t="t" r="r" b="b"/>
              <a:pathLst>
                <a:path w="774065" h="1649729">
                  <a:moveTo>
                    <a:pt x="0" y="1080217"/>
                  </a:moveTo>
                  <a:lnTo>
                    <a:pt x="0" y="892625"/>
                  </a:lnTo>
                  <a:lnTo>
                    <a:pt x="774048" y="0"/>
                  </a:lnTo>
                  <a:lnTo>
                    <a:pt x="774048" y="164857"/>
                  </a:lnTo>
                  <a:lnTo>
                    <a:pt x="0" y="1080217"/>
                  </a:lnTo>
                  <a:close/>
                </a:path>
                <a:path w="774065" h="1649729">
                  <a:moveTo>
                    <a:pt x="774048" y="1649347"/>
                  </a:moveTo>
                  <a:lnTo>
                    <a:pt x="0" y="1649347"/>
                  </a:lnTo>
                  <a:lnTo>
                    <a:pt x="0" y="1223869"/>
                  </a:lnTo>
                  <a:lnTo>
                    <a:pt x="774048" y="308762"/>
                  </a:lnTo>
                  <a:lnTo>
                    <a:pt x="774048" y="1649347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3148575" y="0"/>
            <a:ext cx="5139690" cy="5709920"/>
            <a:chOff x="13148575" y="0"/>
            <a:chExt cx="5139690" cy="5709920"/>
          </a:xfrm>
        </p:grpSpPr>
        <p:sp>
          <p:nvSpPr>
            <p:cNvPr id="18" name="object 18"/>
            <p:cNvSpPr/>
            <p:nvPr/>
          </p:nvSpPr>
          <p:spPr>
            <a:xfrm>
              <a:off x="13148575" y="0"/>
              <a:ext cx="5139690" cy="1254125"/>
            </a:xfrm>
            <a:custGeom>
              <a:avLst/>
              <a:gdLst/>
              <a:ahLst/>
              <a:cxnLst/>
              <a:rect l="l" t="t" r="r" b="b"/>
              <a:pathLst>
                <a:path w="5139690" h="1254125">
                  <a:moveTo>
                    <a:pt x="5139422" y="519002"/>
                  </a:moveTo>
                  <a:lnTo>
                    <a:pt x="5139422" y="686057"/>
                  </a:lnTo>
                  <a:lnTo>
                    <a:pt x="4647218" y="1253662"/>
                  </a:lnTo>
                  <a:lnTo>
                    <a:pt x="4647459" y="1253662"/>
                  </a:lnTo>
                  <a:lnTo>
                    <a:pt x="4570154" y="1192196"/>
                  </a:lnTo>
                  <a:lnTo>
                    <a:pt x="5139422" y="519002"/>
                  </a:lnTo>
                  <a:close/>
                </a:path>
                <a:path w="5139690" h="1254125">
                  <a:moveTo>
                    <a:pt x="3425426" y="451259"/>
                  </a:moveTo>
                  <a:lnTo>
                    <a:pt x="3617996" y="451259"/>
                  </a:lnTo>
                  <a:lnTo>
                    <a:pt x="3610114" y="454400"/>
                  </a:lnTo>
                  <a:lnTo>
                    <a:pt x="3602232" y="459142"/>
                  </a:lnTo>
                  <a:lnTo>
                    <a:pt x="2854952" y="1206360"/>
                  </a:lnTo>
                  <a:lnTo>
                    <a:pt x="2790354" y="1148043"/>
                  </a:lnTo>
                  <a:lnTo>
                    <a:pt x="3425426" y="451259"/>
                  </a:lnTo>
                  <a:close/>
                </a:path>
                <a:path w="5139690" h="1254125">
                  <a:moveTo>
                    <a:pt x="3836720" y="0"/>
                  </a:moveTo>
                  <a:lnTo>
                    <a:pt x="5139422" y="0"/>
                  </a:lnTo>
                  <a:lnTo>
                    <a:pt x="5139422" y="375121"/>
                  </a:lnTo>
                  <a:lnTo>
                    <a:pt x="4497674" y="1133818"/>
                  </a:lnTo>
                  <a:lnTo>
                    <a:pt x="3657408" y="459142"/>
                  </a:lnTo>
                  <a:lnTo>
                    <a:pt x="3651065" y="454400"/>
                  </a:lnTo>
                  <a:lnTo>
                    <a:pt x="3643183" y="451259"/>
                  </a:lnTo>
                  <a:lnTo>
                    <a:pt x="3425426" y="451259"/>
                  </a:lnTo>
                  <a:lnTo>
                    <a:pt x="3836720" y="0"/>
                  </a:lnTo>
                  <a:close/>
                </a:path>
                <a:path w="5139690" h="1254125">
                  <a:moveTo>
                    <a:pt x="0" y="0"/>
                  </a:moveTo>
                  <a:lnTo>
                    <a:pt x="841137" y="0"/>
                  </a:lnTo>
                  <a:lnTo>
                    <a:pt x="419320" y="403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634156" y="0"/>
              <a:ext cx="3221355" cy="1082040"/>
            </a:xfrm>
            <a:custGeom>
              <a:avLst/>
              <a:gdLst/>
              <a:ahLst/>
              <a:cxnLst/>
              <a:rect l="l" t="t" r="r" b="b"/>
              <a:pathLst>
                <a:path w="3221355" h="1082040">
                  <a:moveTo>
                    <a:pt x="489925" y="0"/>
                  </a:moveTo>
                  <a:lnTo>
                    <a:pt x="713024" y="0"/>
                  </a:lnTo>
                  <a:lnTo>
                    <a:pt x="696783" y="14530"/>
                  </a:lnTo>
                  <a:lnTo>
                    <a:pt x="685760" y="22413"/>
                  </a:lnTo>
                  <a:lnTo>
                    <a:pt x="679417" y="30295"/>
                  </a:lnTo>
                  <a:lnTo>
                    <a:pt x="92986" y="556870"/>
                  </a:lnTo>
                  <a:lnTo>
                    <a:pt x="0" y="468564"/>
                  </a:lnTo>
                  <a:lnTo>
                    <a:pt x="489925" y="0"/>
                  </a:lnTo>
                  <a:close/>
                </a:path>
                <a:path w="3221355" h="1082040">
                  <a:moveTo>
                    <a:pt x="1039696" y="0"/>
                  </a:moveTo>
                  <a:lnTo>
                    <a:pt x="3221105" y="0"/>
                  </a:lnTo>
                  <a:lnTo>
                    <a:pt x="2232232" y="1081844"/>
                  </a:lnTo>
                  <a:lnTo>
                    <a:pt x="1039696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099212" y="0"/>
              <a:ext cx="3320415" cy="1510030"/>
            </a:xfrm>
            <a:custGeom>
              <a:avLst/>
              <a:gdLst/>
              <a:ahLst/>
              <a:cxnLst/>
              <a:rect l="l" t="t" r="r" b="b"/>
              <a:pathLst>
                <a:path w="3320415" h="1510030">
                  <a:moveTo>
                    <a:pt x="2681523" y="560011"/>
                  </a:moveTo>
                  <a:lnTo>
                    <a:pt x="3319990" y="1072361"/>
                  </a:lnTo>
                  <a:lnTo>
                    <a:pt x="2921516" y="1509900"/>
                  </a:lnTo>
                  <a:lnTo>
                    <a:pt x="2914757" y="1509900"/>
                  </a:lnTo>
                  <a:lnTo>
                    <a:pt x="2257480" y="984054"/>
                  </a:lnTo>
                  <a:lnTo>
                    <a:pt x="2681523" y="560011"/>
                  </a:lnTo>
                  <a:close/>
                </a:path>
                <a:path w="3320415" h="1510030">
                  <a:moveTo>
                    <a:pt x="255374" y="121742"/>
                  </a:moveTo>
                  <a:lnTo>
                    <a:pt x="774005" y="640435"/>
                  </a:lnTo>
                  <a:lnTo>
                    <a:pt x="531255" y="883185"/>
                  </a:lnTo>
                  <a:lnTo>
                    <a:pt x="0" y="351930"/>
                  </a:lnTo>
                  <a:lnTo>
                    <a:pt x="130797" y="235235"/>
                  </a:lnTo>
                  <a:lnTo>
                    <a:pt x="129257" y="235235"/>
                  </a:lnTo>
                  <a:lnTo>
                    <a:pt x="255374" y="121742"/>
                  </a:lnTo>
                  <a:close/>
                </a:path>
                <a:path w="3320415" h="1510030">
                  <a:moveTo>
                    <a:pt x="390522" y="0"/>
                  </a:moveTo>
                  <a:lnTo>
                    <a:pt x="435048" y="0"/>
                  </a:lnTo>
                  <a:lnTo>
                    <a:pt x="945876" y="467024"/>
                  </a:lnTo>
                  <a:lnTo>
                    <a:pt x="838665" y="574174"/>
                  </a:lnTo>
                  <a:lnTo>
                    <a:pt x="323174" y="60285"/>
                  </a:lnTo>
                  <a:lnTo>
                    <a:pt x="390522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494693" y="3260583"/>
              <a:ext cx="793750" cy="2078355"/>
            </a:xfrm>
            <a:custGeom>
              <a:avLst/>
              <a:gdLst/>
              <a:ahLst/>
              <a:cxnLst/>
              <a:rect l="l" t="t" r="r" b="b"/>
              <a:pathLst>
                <a:path w="793750" h="2078354">
                  <a:moveTo>
                    <a:pt x="0" y="2077980"/>
                  </a:moveTo>
                  <a:lnTo>
                    <a:pt x="0" y="949514"/>
                  </a:lnTo>
                  <a:lnTo>
                    <a:pt x="793306" y="0"/>
                  </a:lnTo>
                  <a:lnTo>
                    <a:pt x="793306" y="1128465"/>
                  </a:lnTo>
                  <a:lnTo>
                    <a:pt x="0" y="207798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494720" y="926021"/>
              <a:ext cx="793750" cy="2969260"/>
            </a:xfrm>
            <a:custGeom>
              <a:avLst/>
              <a:gdLst/>
              <a:ahLst/>
              <a:cxnLst/>
              <a:rect l="l" t="t" r="r" b="b"/>
              <a:pathLst>
                <a:path w="793750" h="2969260">
                  <a:moveTo>
                    <a:pt x="0" y="2968781"/>
                  </a:moveTo>
                  <a:lnTo>
                    <a:pt x="0" y="949482"/>
                  </a:lnTo>
                  <a:lnTo>
                    <a:pt x="793279" y="0"/>
                  </a:lnTo>
                  <a:lnTo>
                    <a:pt x="793279" y="2019298"/>
                  </a:lnTo>
                  <a:lnTo>
                    <a:pt x="0" y="2968781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947849" y="4552670"/>
              <a:ext cx="340360" cy="1156970"/>
            </a:xfrm>
            <a:custGeom>
              <a:avLst/>
              <a:gdLst/>
              <a:ahLst/>
              <a:cxnLst/>
              <a:rect l="l" t="t" r="r" b="b"/>
              <a:pathLst>
                <a:path w="340359" h="1156970">
                  <a:moveTo>
                    <a:pt x="0" y="1156766"/>
                  </a:moveTo>
                  <a:lnTo>
                    <a:pt x="0" y="407128"/>
                  </a:lnTo>
                  <a:lnTo>
                    <a:pt x="340150" y="0"/>
                  </a:lnTo>
                  <a:lnTo>
                    <a:pt x="340150" y="749638"/>
                  </a:lnTo>
                  <a:lnTo>
                    <a:pt x="0" y="1156766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491538" y="2568962"/>
              <a:ext cx="796925" cy="1649730"/>
            </a:xfrm>
            <a:custGeom>
              <a:avLst/>
              <a:gdLst/>
              <a:ahLst/>
              <a:cxnLst/>
              <a:rect l="l" t="t" r="r" b="b"/>
              <a:pathLst>
                <a:path w="796925" h="1649729">
                  <a:moveTo>
                    <a:pt x="796459" y="542627"/>
                  </a:moveTo>
                  <a:lnTo>
                    <a:pt x="796459" y="730877"/>
                  </a:lnTo>
                  <a:lnTo>
                    <a:pt x="0" y="1649347"/>
                  </a:lnTo>
                  <a:lnTo>
                    <a:pt x="0" y="1484490"/>
                  </a:lnTo>
                  <a:lnTo>
                    <a:pt x="796459" y="542627"/>
                  </a:lnTo>
                  <a:close/>
                </a:path>
                <a:path w="796925" h="1649729">
                  <a:moveTo>
                    <a:pt x="0" y="0"/>
                  </a:moveTo>
                  <a:lnTo>
                    <a:pt x="796459" y="0"/>
                  </a:lnTo>
                  <a:lnTo>
                    <a:pt x="796459" y="398982"/>
                  </a:lnTo>
                  <a:lnTo>
                    <a:pt x="0" y="1340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-265" y="38383"/>
            <a:ext cx="4719320" cy="2510155"/>
            <a:chOff x="0" y="0"/>
            <a:chExt cx="4719320" cy="251015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718908" cy="251012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99448" y="155211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0"/>
                  </a:moveTo>
                  <a:lnTo>
                    <a:pt x="2363367" y="1517"/>
                  </a:lnTo>
                  <a:lnTo>
                    <a:pt x="2411353" y="6011"/>
                  </a:lnTo>
                  <a:lnTo>
                    <a:pt x="2458442" y="13389"/>
                  </a:lnTo>
                  <a:lnTo>
                    <a:pt x="2504544" y="23563"/>
                  </a:lnTo>
                  <a:lnTo>
                    <a:pt x="2549568" y="36440"/>
                  </a:lnTo>
                  <a:lnTo>
                    <a:pt x="2593425" y="51932"/>
                  </a:lnTo>
                  <a:lnTo>
                    <a:pt x="2636023" y="69947"/>
                  </a:lnTo>
                  <a:lnTo>
                    <a:pt x="2677272" y="90396"/>
                  </a:lnTo>
                  <a:lnTo>
                    <a:pt x="2717082" y="113187"/>
                  </a:lnTo>
                  <a:lnTo>
                    <a:pt x="2755363" y="138231"/>
                  </a:lnTo>
                  <a:lnTo>
                    <a:pt x="2792024" y="165437"/>
                  </a:lnTo>
                  <a:lnTo>
                    <a:pt x="2826975" y="194715"/>
                  </a:lnTo>
                  <a:lnTo>
                    <a:pt x="2860125" y="225974"/>
                  </a:lnTo>
                  <a:lnTo>
                    <a:pt x="2891384" y="259124"/>
                  </a:lnTo>
                  <a:lnTo>
                    <a:pt x="2920662" y="294075"/>
                  </a:lnTo>
                  <a:lnTo>
                    <a:pt x="2947868" y="330736"/>
                  </a:lnTo>
                  <a:lnTo>
                    <a:pt x="2972912" y="369016"/>
                  </a:lnTo>
                  <a:lnTo>
                    <a:pt x="2995703" y="408827"/>
                  </a:lnTo>
                  <a:lnTo>
                    <a:pt x="3016152" y="450076"/>
                  </a:lnTo>
                  <a:lnTo>
                    <a:pt x="3034167" y="492674"/>
                  </a:lnTo>
                  <a:lnTo>
                    <a:pt x="3049659" y="536530"/>
                  </a:lnTo>
                  <a:lnTo>
                    <a:pt x="3062536" y="581555"/>
                  </a:lnTo>
                  <a:lnTo>
                    <a:pt x="3072709" y="627657"/>
                  </a:lnTo>
                  <a:lnTo>
                    <a:pt x="3080088" y="674746"/>
                  </a:lnTo>
                  <a:lnTo>
                    <a:pt x="3084581" y="722732"/>
                  </a:lnTo>
                  <a:lnTo>
                    <a:pt x="3086099" y="771524"/>
                  </a:lnTo>
                  <a:lnTo>
                    <a:pt x="3084581" y="820317"/>
                  </a:lnTo>
                  <a:lnTo>
                    <a:pt x="3080088" y="868303"/>
                  </a:lnTo>
                  <a:lnTo>
                    <a:pt x="3072709" y="915392"/>
                  </a:lnTo>
                  <a:lnTo>
                    <a:pt x="3062536" y="961494"/>
                  </a:lnTo>
                  <a:lnTo>
                    <a:pt x="3049659" y="1006518"/>
                  </a:lnTo>
                  <a:lnTo>
                    <a:pt x="3034167" y="1050375"/>
                  </a:lnTo>
                  <a:lnTo>
                    <a:pt x="3016152" y="1092973"/>
                  </a:lnTo>
                  <a:lnTo>
                    <a:pt x="2995703" y="1134222"/>
                  </a:lnTo>
                  <a:lnTo>
                    <a:pt x="2972912" y="1174032"/>
                  </a:lnTo>
                  <a:lnTo>
                    <a:pt x="2947868" y="1212313"/>
                  </a:lnTo>
                  <a:lnTo>
                    <a:pt x="2920662" y="1248974"/>
                  </a:lnTo>
                  <a:lnTo>
                    <a:pt x="2891384" y="1283925"/>
                  </a:lnTo>
                  <a:lnTo>
                    <a:pt x="2860125" y="1317075"/>
                  </a:lnTo>
                  <a:lnTo>
                    <a:pt x="2826975" y="1348334"/>
                  </a:lnTo>
                  <a:lnTo>
                    <a:pt x="2792024" y="1377612"/>
                  </a:lnTo>
                  <a:lnTo>
                    <a:pt x="2755363" y="1404818"/>
                  </a:lnTo>
                  <a:lnTo>
                    <a:pt x="2717082" y="1429862"/>
                  </a:lnTo>
                  <a:lnTo>
                    <a:pt x="2677272" y="1452653"/>
                  </a:lnTo>
                  <a:lnTo>
                    <a:pt x="2636023" y="1473102"/>
                  </a:lnTo>
                  <a:lnTo>
                    <a:pt x="2593425" y="1491117"/>
                  </a:lnTo>
                  <a:lnTo>
                    <a:pt x="2549568" y="1506609"/>
                  </a:lnTo>
                  <a:lnTo>
                    <a:pt x="2504544" y="1519486"/>
                  </a:lnTo>
                  <a:lnTo>
                    <a:pt x="2458442" y="1529660"/>
                  </a:lnTo>
                  <a:lnTo>
                    <a:pt x="2411353" y="1537038"/>
                  </a:lnTo>
                  <a:lnTo>
                    <a:pt x="2363367" y="1541532"/>
                  </a:lnTo>
                  <a:lnTo>
                    <a:pt x="2314574" y="1543049"/>
                  </a:lnTo>
                  <a:lnTo>
                    <a:pt x="771524" y="1543049"/>
                  </a:ln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6"/>
                  </a:lnTo>
                  <a:lnTo>
                    <a:pt x="536530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6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2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8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4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0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6"/>
                  </a:lnTo>
                  <a:lnTo>
                    <a:pt x="138231" y="330736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6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0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4" y="0"/>
                  </a:lnTo>
                  <a:lnTo>
                    <a:pt x="23145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70191" y="635317"/>
            <a:ext cx="214503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IN" sz="2550" dirty="0" err="1">
                <a:latin typeface="Arial Black"/>
                <a:cs typeface="Arial Black"/>
              </a:rPr>
              <a:t>Infiniy</a:t>
            </a:r>
            <a:r>
              <a:rPr lang="en-IN" sz="2550" dirty="0">
                <a:latin typeface="Arial Black"/>
                <a:cs typeface="Arial Black"/>
              </a:rPr>
              <a:t> Loop</a:t>
            </a:r>
            <a:endParaRPr sz="2550" dirty="0">
              <a:latin typeface="Arial Black"/>
              <a:cs typeface="Arial Black"/>
            </a:endParaRP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ADC74C05-BD76-431A-ABA2-8B5E271C4D6D}"/>
              </a:ext>
            </a:extLst>
          </p:cNvPr>
          <p:cNvSpPr/>
          <p:nvPr/>
        </p:nvSpPr>
        <p:spPr>
          <a:xfrm>
            <a:off x="2607058" y="40537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271E94B9-29CE-4868-8195-1478CED6369B}"/>
              </a:ext>
            </a:extLst>
          </p:cNvPr>
          <p:cNvSpPr/>
          <p:nvPr/>
        </p:nvSpPr>
        <p:spPr>
          <a:xfrm>
            <a:off x="1566336" y="4412681"/>
            <a:ext cx="4635628" cy="5094631"/>
          </a:xfrm>
          <a:prstGeom prst="roundRect">
            <a:avLst>
              <a:gd name="adj" fmla="val 1037"/>
            </a:avLst>
          </a:prstGeom>
          <a:solidFill>
            <a:srgbClr val="E9ECF2"/>
          </a:solidFill>
          <a:ln/>
        </p:spPr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905A5561-9C39-4A78-99C0-992753E5B1E4}"/>
              </a:ext>
            </a:extLst>
          </p:cNvPr>
          <p:cNvSpPr/>
          <p:nvPr/>
        </p:nvSpPr>
        <p:spPr>
          <a:xfrm>
            <a:off x="1872458" y="46768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32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Detailed</a:t>
            </a:r>
            <a:r>
              <a:rPr lang="en-IN" sz="3200" b="1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Explanation</a:t>
            </a: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654ECCE3-C818-4D18-B0B5-0235B71A8648}"/>
              </a:ext>
            </a:extLst>
          </p:cNvPr>
          <p:cNvSpPr/>
          <p:nvPr/>
        </p:nvSpPr>
        <p:spPr>
          <a:xfrm>
            <a:off x="1880942" y="5583653"/>
            <a:ext cx="4221051" cy="3426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patient</a:t>
            </a: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data: vitals, labs, diagnoses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ML </a:t>
            </a: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ensemble</a:t>
            </a: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400" dirty="0" err="1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LSTM, RETAIN)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real-time risk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explainable insights (SHAP, LIME)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hospital systems (EHR/FHIR)</a:t>
            </a: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C0724D59-7B5C-45FD-973A-BC2A6BA1B77B}"/>
              </a:ext>
            </a:extLst>
          </p:cNvPr>
          <p:cNvSpPr/>
          <p:nvPr/>
        </p:nvSpPr>
        <p:spPr>
          <a:xfrm>
            <a:off x="7187708" y="4385391"/>
            <a:ext cx="4446021" cy="5094631"/>
          </a:xfrm>
          <a:prstGeom prst="roundRect">
            <a:avLst>
              <a:gd name="adj" fmla="val 1037"/>
            </a:avLst>
          </a:prstGeom>
          <a:solidFill>
            <a:srgbClr val="E9ECF2"/>
          </a:solidFill>
          <a:ln/>
        </p:spPr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E6361C27-8C41-448A-A34A-C4C8CA0B1CCD}"/>
              </a:ext>
            </a:extLst>
          </p:cNvPr>
          <p:cNvSpPr/>
          <p:nvPr/>
        </p:nvSpPr>
        <p:spPr>
          <a:xfrm>
            <a:off x="7287679" y="4523336"/>
            <a:ext cx="5302274" cy="77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800" b="1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</a:t>
            </a:r>
          </a:p>
          <a:p>
            <a:r>
              <a:rPr lang="en-US" sz="2800" b="1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2ABC0F89-7589-4285-87C1-C56A3D25C615}"/>
              </a:ext>
            </a:extLst>
          </p:cNvPr>
          <p:cNvSpPr/>
          <p:nvPr/>
        </p:nvSpPr>
        <p:spPr>
          <a:xfrm>
            <a:off x="7488592" y="5599636"/>
            <a:ext cx="3742730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high-risk patients    early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proactive care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preventable readmissions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clinical decisions</a:t>
            </a: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10944CC6-13C4-428B-BA18-2C41C1D4D95E}"/>
              </a:ext>
            </a:extLst>
          </p:cNvPr>
          <p:cNvSpPr/>
          <p:nvPr/>
        </p:nvSpPr>
        <p:spPr>
          <a:xfrm>
            <a:off x="12590187" y="4365476"/>
            <a:ext cx="4352078" cy="5141836"/>
          </a:xfrm>
          <a:prstGeom prst="roundRect">
            <a:avLst>
              <a:gd name="adj" fmla="val 1037"/>
            </a:avLst>
          </a:prstGeom>
          <a:solidFill>
            <a:srgbClr val="E9ECF2"/>
          </a:solidFill>
          <a:ln/>
        </p:spPr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736FACF4-7F4C-4BC2-8A24-51E454E3B940}"/>
              </a:ext>
            </a:extLst>
          </p:cNvPr>
          <p:cNvSpPr/>
          <p:nvPr/>
        </p:nvSpPr>
        <p:spPr>
          <a:xfrm>
            <a:off x="12794107" y="4781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750"/>
              </a:lnSpc>
            </a:pPr>
            <a:r>
              <a:rPr lang="en-US" sz="28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Innovation </a:t>
            </a:r>
            <a:r>
              <a:rPr lang="en-IN" sz="2800" b="1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Uniqueness</a:t>
            </a:r>
          </a:p>
          <a:p>
            <a:pPr marL="0" indent="0" algn="l">
              <a:lnSpc>
                <a:spcPts val="2750"/>
              </a:lnSpc>
              <a:buNone/>
            </a:pPr>
            <a:endParaRPr lang="en-US" sz="2800" b="1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4B222DEF-32ED-474F-869A-7598F6C4BECE}"/>
              </a:ext>
            </a:extLst>
          </p:cNvPr>
          <p:cNvSpPr/>
          <p:nvPr/>
        </p:nvSpPr>
        <p:spPr>
          <a:xfrm>
            <a:off x="12981426" y="5582150"/>
            <a:ext cx="3742730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time-series + clinical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for trust and transparency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of advanced ML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clinical decision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across hospital systems</a:t>
            </a: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id="{84E658D9-4E09-426E-A884-5BB6FD582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942" y="2628210"/>
            <a:ext cx="14483986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Proposed Solution:-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clinical intelligence platform that predicts 30-day hospital readmission risk before discharge, enabling early intervention and better patient management.</a:t>
            </a: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68" rIns="0" bIns="0" rtlCol="0">
            <a:spAutoFit/>
          </a:bodyPr>
          <a:lstStyle/>
          <a:p>
            <a:pPr marL="874394">
              <a:lnSpc>
                <a:spcPct val="100000"/>
              </a:lnSpc>
              <a:spcBef>
                <a:spcPts val="100"/>
              </a:spcBef>
            </a:pPr>
            <a:r>
              <a:rPr spc="-440" dirty="0"/>
              <a:t>TECHINICAL</a:t>
            </a:r>
            <a:r>
              <a:rPr spc="-470" dirty="0"/>
              <a:t> </a:t>
            </a:r>
            <a:r>
              <a:rPr spc="-445" dirty="0"/>
              <a:t>APPROACH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4528763"/>
            <a:ext cx="5168265" cy="5758815"/>
            <a:chOff x="0" y="4528763"/>
            <a:chExt cx="5168265" cy="5758815"/>
          </a:xfrm>
        </p:grpSpPr>
        <p:sp>
          <p:nvSpPr>
            <p:cNvPr id="7" name="object 7"/>
            <p:cNvSpPr/>
            <p:nvPr/>
          </p:nvSpPr>
          <p:spPr>
            <a:xfrm>
              <a:off x="0" y="8984538"/>
              <a:ext cx="5168265" cy="1303020"/>
            </a:xfrm>
            <a:custGeom>
              <a:avLst/>
              <a:gdLst/>
              <a:ahLst/>
              <a:cxnLst/>
              <a:rect l="l" t="t" r="r" b="b"/>
              <a:pathLst>
                <a:path w="5168265" h="1303020">
                  <a:moveTo>
                    <a:pt x="0" y="708156"/>
                  </a:moveTo>
                  <a:lnTo>
                    <a:pt x="0" y="541760"/>
                  </a:lnTo>
                  <a:lnTo>
                    <a:pt x="469792" y="0"/>
                  </a:lnTo>
                  <a:lnTo>
                    <a:pt x="469551" y="0"/>
                  </a:lnTo>
                  <a:lnTo>
                    <a:pt x="546855" y="61465"/>
                  </a:lnTo>
                  <a:lnTo>
                    <a:pt x="0" y="708156"/>
                  </a:lnTo>
                  <a:close/>
                </a:path>
                <a:path w="5168265" h="1303020">
                  <a:moveTo>
                    <a:pt x="1691584" y="802402"/>
                  </a:moveTo>
                  <a:lnTo>
                    <a:pt x="1499014" y="802402"/>
                  </a:lnTo>
                  <a:lnTo>
                    <a:pt x="1506896" y="799261"/>
                  </a:lnTo>
                  <a:lnTo>
                    <a:pt x="1514778" y="794519"/>
                  </a:lnTo>
                  <a:lnTo>
                    <a:pt x="2262058" y="47301"/>
                  </a:lnTo>
                  <a:lnTo>
                    <a:pt x="2326656" y="105618"/>
                  </a:lnTo>
                  <a:lnTo>
                    <a:pt x="1691584" y="802402"/>
                  </a:lnTo>
                  <a:close/>
                </a:path>
                <a:path w="5168265" h="1303020">
                  <a:moveTo>
                    <a:pt x="1235813" y="1302461"/>
                  </a:moveTo>
                  <a:lnTo>
                    <a:pt x="0" y="1302461"/>
                  </a:lnTo>
                  <a:lnTo>
                    <a:pt x="0" y="852045"/>
                  </a:lnTo>
                  <a:lnTo>
                    <a:pt x="619336" y="119843"/>
                  </a:lnTo>
                  <a:lnTo>
                    <a:pt x="1459602" y="794519"/>
                  </a:lnTo>
                  <a:lnTo>
                    <a:pt x="1465945" y="799261"/>
                  </a:lnTo>
                  <a:lnTo>
                    <a:pt x="1473827" y="802402"/>
                  </a:lnTo>
                  <a:lnTo>
                    <a:pt x="1691584" y="802402"/>
                  </a:lnTo>
                  <a:lnTo>
                    <a:pt x="1235813" y="1302461"/>
                  </a:lnTo>
                  <a:close/>
                </a:path>
                <a:path w="5168265" h="1303020">
                  <a:moveTo>
                    <a:pt x="5167665" y="1302461"/>
                  </a:moveTo>
                  <a:lnTo>
                    <a:pt x="4224917" y="1302461"/>
                  </a:lnTo>
                  <a:lnTo>
                    <a:pt x="4697690" y="849696"/>
                  </a:lnTo>
                  <a:lnTo>
                    <a:pt x="5167665" y="1302461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5718" y="9156355"/>
              <a:ext cx="3265804" cy="1130935"/>
            </a:xfrm>
            <a:custGeom>
              <a:avLst/>
              <a:gdLst/>
              <a:ahLst/>
              <a:cxnLst/>
              <a:rect l="l" t="t" r="r" b="b"/>
              <a:pathLst>
                <a:path w="3265804" h="1130934">
                  <a:moveTo>
                    <a:pt x="2724761" y="1130643"/>
                  </a:moveTo>
                  <a:lnTo>
                    <a:pt x="2498146" y="1130643"/>
                  </a:lnTo>
                  <a:lnTo>
                    <a:pt x="2568927" y="1067313"/>
                  </a:lnTo>
                  <a:lnTo>
                    <a:pt x="2579950" y="1059431"/>
                  </a:lnTo>
                  <a:lnTo>
                    <a:pt x="2586293" y="1051548"/>
                  </a:lnTo>
                  <a:lnTo>
                    <a:pt x="3172724" y="524973"/>
                  </a:lnTo>
                  <a:lnTo>
                    <a:pt x="3265711" y="613280"/>
                  </a:lnTo>
                  <a:lnTo>
                    <a:pt x="2724761" y="1130643"/>
                  </a:lnTo>
                  <a:close/>
                </a:path>
                <a:path w="3265804" h="1130934">
                  <a:moveTo>
                    <a:pt x="2279807" y="1130643"/>
                  </a:moveTo>
                  <a:lnTo>
                    <a:pt x="0" y="1130643"/>
                  </a:lnTo>
                  <a:lnTo>
                    <a:pt x="1033479" y="0"/>
                  </a:lnTo>
                  <a:lnTo>
                    <a:pt x="2279807" y="1130643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6383" y="8728299"/>
              <a:ext cx="3320415" cy="1530350"/>
            </a:xfrm>
            <a:custGeom>
              <a:avLst/>
              <a:gdLst/>
              <a:ahLst/>
              <a:cxnLst/>
              <a:rect l="l" t="t" r="r" b="b"/>
              <a:pathLst>
                <a:path w="3320415" h="1530350">
                  <a:moveTo>
                    <a:pt x="638466" y="949889"/>
                  </a:moveTo>
                  <a:lnTo>
                    <a:pt x="0" y="437539"/>
                  </a:lnTo>
                  <a:lnTo>
                    <a:pt x="398473" y="0"/>
                  </a:lnTo>
                  <a:lnTo>
                    <a:pt x="405233" y="0"/>
                  </a:lnTo>
                  <a:lnTo>
                    <a:pt x="1062510" y="525845"/>
                  </a:lnTo>
                  <a:lnTo>
                    <a:pt x="638466" y="949889"/>
                  </a:lnTo>
                  <a:close/>
                </a:path>
                <a:path w="3320415" h="1530350">
                  <a:moveTo>
                    <a:pt x="3064616" y="1388157"/>
                  </a:moveTo>
                  <a:lnTo>
                    <a:pt x="2545984" y="869465"/>
                  </a:lnTo>
                  <a:lnTo>
                    <a:pt x="2788735" y="626714"/>
                  </a:lnTo>
                  <a:lnTo>
                    <a:pt x="3319990" y="1157969"/>
                  </a:lnTo>
                  <a:lnTo>
                    <a:pt x="3189193" y="1274664"/>
                  </a:lnTo>
                  <a:lnTo>
                    <a:pt x="3190733" y="1274664"/>
                  </a:lnTo>
                  <a:lnTo>
                    <a:pt x="3064616" y="1388157"/>
                  </a:lnTo>
                  <a:close/>
                </a:path>
                <a:path w="3320415" h="1530350">
                  <a:moveTo>
                    <a:pt x="2906970" y="1530039"/>
                  </a:moveTo>
                  <a:lnTo>
                    <a:pt x="2374113" y="1042875"/>
                  </a:lnTo>
                  <a:lnTo>
                    <a:pt x="2481325" y="935725"/>
                  </a:lnTo>
                  <a:lnTo>
                    <a:pt x="2996816" y="1449615"/>
                  </a:lnTo>
                  <a:lnTo>
                    <a:pt x="2906970" y="1530039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99636"/>
              <a:ext cx="770890" cy="2051685"/>
            </a:xfrm>
            <a:custGeom>
              <a:avLst/>
              <a:gdLst/>
              <a:ahLst/>
              <a:cxnLst/>
              <a:rect l="l" t="t" r="r" b="b"/>
              <a:pathLst>
                <a:path w="770890" h="2051684">
                  <a:moveTo>
                    <a:pt x="770894" y="0"/>
                  </a:moveTo>
                  <a:lnTo>
                    <a:pt x="770894" y="1128465"/>
                  </a:lnTo>
                  <a:lnTo>
                    <a:pt x="0" y="2051155"/>
                  </a:lnTo>
                  <a:lnTo>
                    <a:pt x="0" y="922689"/>
                  </a:lnTo>
                  <a:lnTo>
                    <a:pt x="770894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6343398"/>
              <a:ext cx="770890" cy="2941955"/>
            </a:xfrm>
            <a:custGeom>
              <a:avLst/>
              <a:gdLst/>
              <a:ahLst/>
              <a:cxnLst/>
              <a:rect l="l" t="t" r="r" b="b"/>
              <a:pathLst>
                <a:path w="770890" h="2941954">
                  <a:moveTo>
                    <a:pt x="770867" y="0"/>
                  </a:moveTo>
                  <a:lnTo>
                    <a:pt x="770867" y="2019297"/>
                  </a:lnTo>
                  <a:lnTo>
                    <a:pt x="0" y="2941956"/>
                  </a:lnTo>
                  <a:lnTo>
                    <a:pt x="0" y="922658"/>
                  </a:lnTo>
                  <a:lnTo>
                    <a:pt x="770867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4528763"/>
              <a:ext cx="318135" cy="1130300"/>
            </a:xfrm>
            <a:custGeom>
              <a:avLst/>
              <a:gdLst/>
              <a:ahLst/>
              <a:cxnLst/>
              <a:rect l="l" t="t" r="r" b="b"/>
              <a:pathLst>
                <a:path w="318135" h="1130300">
                  <a:moveTo>
                    <a:pt x="317739" y="0"/>
                  </a:moveTo>
                  <a:lnTo>
                    <a:pt x="317739" y="749638"/>
                  </a:lnTo>
                  <a:lnTo>
                    <a:pt x="0" y="1129943"/>
                  </a:lnTo>
                  <a:lnTo>
                    <a:pt x="0" y="380305"/>
                  </a:lnTo>
                  <a:lnTo>
                    <a:pt x="317739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6019890"/>
              <a:ext cx="774065" cy="1649730"/>
            </a:xfrm>
            <a:custGeom>
              <a:avLst/>
              <a:gdLst/>
              <a:ahLst/>
              <a:cxnLst/>
              <a:rect l="l" t="t" r="r" b="b"/>
              <a:pathLst>
                <a:path w="774065" h="1649729">
                  <a:moveTo>
                    <a:pt x="0" y="1080217"/>
                  </a:moveTo>
                  <a:lnTo>
                    <a:pt x="0" y="892625"/>
                  </a:lnTo>
                  <a:lnTo>
                    <a:pt x="774048" y="0"/>
                  </a:lnTo>
                  <a:lnTo>
                    <a:pt x="774048" y="164857"/>
                  </a:lnTo>
                  <a:lnTo>
                    <a:pt x="0" y="1080217"/>
                  </a:lnTo>
                  <a:close/>
                </a:path>
                <a:path w="774065" h="1649729">
                  <a:moveTo>
                    <a:pt x="774048" y="1649347"/>
                  </a:moveTo>
                  <a:lnTo>
                    <a:pt x="0" y="1649347"/>
                  </a:lnTo>
                  <a:lnTo>
                    <a:pt x="0" y="1223869"/>
                  </a:lnTo>
                  <a:lnTo>
                    <a:pt x="774048" y="308762"/>
                  </a:lnTo>
                  <a:lnTo>
                    <a:pt x="774048" y="1649347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3148575" y="0"/>
            <a:ext cx="5139690" cy="5709920"/>
            <a:chOff x="13148575" y="0"/>
            <a:chExt cx="5139690" cy="5709920"/>
          </a:xfrm>
        </p:grpSpPr>
        <p:sp>
          <p:nvSpPr>
            <p:cNvPr id="15" name="object 15"/>
            <p:cNvSpPr/>
            <p:nvPr/>
          </p:nvSpPr>
          <p:spPr>
            <a:xfrm>
              <a:off x="13148575" y="0"/>
              <a:ext cx="5139690" cy="1254125"/>
            </a:xfrm>
            <a:custGeom>
              <a:avLst/>
              <a:gdLst/>
              <a:ahLst/>
              <a:cxnLst/>
              <a:rect l="l" t="t" r="r" b="b"/>
              <a:pathLst>
                <a:path w="5139690" h="1254125">
                  <a:moveTo>
                    <a:pt x="5139422" y="519002"/>
                  </a:moveTo>
                  <a:lnTo>
                    <a:pt x="5139422" y="686057"/>
                  </a:lnTo>
                  <a:lnTo>
                    <a:pt x="4647218" y="1253662"/>
                  </a:lnTo>
                  <a:lnTo>
                    <a:pt x="4647459" y="1253662"/>
                  </a:lnTo>
                  <a:lnTo>
                    <a:pt x="4570154" y="1192196"/>
                  </a:lnTo>
                  <a:lnTo>
                    <a:pt x="5139422" y="519002"/>
                  </a:lnTo>
                  <a:close/>
                </a:path>
                <a:path w="5139690" h="1254125">
                  <a:moveTo>
                    <a:pt x="3425426" y="451259"/>
                  </a:moveTo>
                  <a:lnTo>
                    <a:pt x="3617996" y="451259"/>
                  </a:lnTo>
                  <a:lnTo>
                    <a:pt x="3610114" y="454400"/>
                  </a:lnTo>
                  <a:lnTo>
                    <a:pt x="3602232" y="459142"/>
                  </a:lnTo>
                  <a:lnTo>
                    <a:pt x="2854952" y="1206360"/>
                  </a:lnTo>
                  <a:lnTo>
                    <a:pt x="2790354" y="1148043"/>
                  </a:lnTo>
                  <a:lnTo>
                    <a:pt x="3425426" y="451259"/>
                  </a:lnTo>
                  <a:close/>
                </a:path>
                <a:path w="5139690" h="1254125">
                  <a:moveTo>
                    <a:pt x="3836720" y="0"/>
                  </a:moveTo>
                  <a:lnTo>
                    <a:pt x="5139422" y="0"/>
                  </a:lnTo>
                  <a:lnTo>
                    <a:pt x="5139422" y="375121"/>
                  </a:lnTo>
                  <a:lnTo>
                    <a:pt x="4497674" y="1133818"/>
                  </a:lnTo>
                  <a:lnTo>
                    <a:pt x="3657408" y="459142"/>
                  </a:lnTo>
                  <a:lnTo>
                    <a:pt x="3651065" y="454400"/>
                  </a:lnTo>
                  <a:lnTo>
                    <a:pt x="3643183" y="451259"/>
                  </a:lnTo>
                  <a:lnTo>
                    <a:pt x="3425426" y="451259"/>
                  </a:lnTo>
                  <a:lnTo>
                    <a:pt x="3836720" y="0"/>
                  </a:lnTo>
                  <a:close/>
                </a:path>
                <a:path w="5139690" h="1254125">
                  <a:moveTo>
                    <a:pt x="0" y="0"/>
                  </a:moveTo>
                  <a:lnTo>
                    <a:pt x="841137" y="0"/>
                  </a:lnTo>
                  <a:lnTo>
                    <a:pt x="419320" y="403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634156" y="0"/>
              <a:ext cx="3221355" cy="1082040"/>
            </a:xfrm>
            <a:custGeom>
              <a:avLst/>
              <a:gdLst/>
              <a:ahLst/>
              <a:cxnLst/>
              <a:rect l="l" t="t" r="r" b="b"/>
              <a:pathLst>
                <a:path w="3221355" h="1082040">
                  <a:moveTo>
                    <a:pt x="489925" y="0"/>
                  </a:moveTo>
                  <a:lnTo>
                    <a:pt x="713024" y="0"/>
                  </a:lnTo>
                  <a:lnTo>
                    <a:pt x="696783" y="14530"/>
                  </a:lnTo>
                  <a:lnTo>
                    <a:pt x="685760" y="22413"/>
                  </a:lnTo>
                  <a:lnTo>
                    <a:pt x="679417" y="30295"/>
                  </a:lnTo>
                  <a:lnTo>
                    <a:pt x="92986" y="556870"/>
                  </a:lnTo>
                  <a:lnTo>
                    <a:pt x="0" y="468564"/>
                  </a:lnTo>
                  <a:lnTo>
                    <a:pt x="489925" y="0"/>
                  </a:lnTo>
                  <a:close/>
                </a:path>
                <a:path w="3221355" h="1082040">
                  <a:moveTo>
                    <a:pt x="1039696" y="0"/>
                  </a:moveTo>
                  <a:lnTo>
                    <a:pt x="3221105" y="0"/>
                  </a:lnTo>
                  <a:lnTo>
                    <a:pt x="2232232" y="1081844"/>
                  </a:lnTo>
                  <a:lnTo>
                    <a:pt x="1039696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99212" y="0"/>
              <a:ext cx="3320415" cy="1510030"/>
            </a:xfrm>
            <a:custGeom>
              <a:avLst/>
              <a:gdLst/>
              <a:ahLst/>
              <a:cxnLst/>
              <a:rect l="l" t="t" r="r" b="b"/>
              <a:pathLst>
                <a:path w="3320415" h="1510030">
                  <a:moveTo>
                    <a:pt x="2681523" y="560011"/>
                  </a:moveTo>
                  <a:lnTo>
                    <a:pt x="3319990" y="1072361"/>
                  </a:lnTo>
                  <a:lnTo>
                    <a:pt x="2921516" y="1509900"/>
                  </a:lnTo>
                  <a:lnTo>
                    <a:pt x="2914757" y="1509900"/>
                  </a:lnTo>
                  <a:lnTo>
                    <a:pt x="2257480" y="984054"/>
                  </a:lnTo>
                  <a:lnTo>
                    <a:pt x="2681523" y="560011"/>
                  </a:lnTo>
                  <a:close/>
                </a:path>
                <a:path w="3320415" h="1510030">
                  <a:moveTo>
                    <a:pt x="255374" y="121742"/>
                  </a:moveTo>
                  <a:lnTo>
                    <a:pt x="774005" y="640435"/>
                  </a:lnTo>
                  <a:lnTo>
                    <a:pt x="531255" y="883185"/>
                  </a:lnTo>
                  <a:lnTo>
                    <a:pt x="0" y="351930"/>
                  </a:lnTo>
                  <a:lnTo>
                    <a:pt x="130797" y="235235"/>
                  </a:lnTo>
                  <a:lnTo>
                    <a:pt x="129257" y="235235"/>
                  </a:lnTo>
                  <a:lnTo>
                    <a:pt x="255374" y="121742"/>
                  </a:lnTo>
                  <a:close/>
                </a:path>
                <a:path w="3320415" h="1510030">
                  <a:moveTo>
                    <a:pt x="390522" y="0"/>
                  </a:moveTo>
                  <a:lnTo>
                    <a:pt x="435048" y="0"/>
                  </a:lnTo>
                  <a:lnTo>
                    <a:pt x="945876" y="467024"/>
                  </a:lnTo>
                  <a:lnTo>
                    <a:pt x="838665" y="574174"/>
                  </a:lnTo>
                  <a:lnTo>
                    <a:pt x="323174" y="60285"/>
                  </a:lnTo>
                  <a:lnTo>
                    <a:pt x="390522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494693" y="3260583"/>
              <a:ext cx="793750" cy="2078355"/>
            </a:xfrm>
            <a:custGeom>
              <a:avLst/>
              <a:gdLst/>
              <a:ahLst/>
              <a:cxnLst/>
              <a:rect l="l" t="t" r="r" b="b"/>
              <a:pathLst>
                <a:path w="793750" h="2078354">
                  <a:moveTo>
                    <a:pt x="0" y="2077980"/>
                  </a:moveTo>
                  <a:lnTo>
                    <a:pt x="0" y="949514"/>
                  </a:lnTo>
                  <a:lnTo>
                    <a:pt x="793306" y="0"/>
                  </a:lnTo>
                  <a:lnTo>
                    <a:pt x="793306" y="1128465"/>
                  </a:lnTo>
                  <a:lnTo>
                    <a:pt x="0" y="207798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494720" y="926021"/>
              <a:ext cx="793750" cy="2969260"/>
            </a:xfrm>
            <a:custGeom>
              <a:avLst/>
              <a:gdLst/>
              <a:ahLst/>
              <a:cxnLst/>
              <a:rect l="l" t="t" r="r" b="b"/>
              <a:pathLst>
                <a:path w="793750" h="2969260">
                  <a:moveTo>
                    <a:pt x="0" y="2968781"/>
                  </a:moveTo>
                  <a:lnTo>
                    <a:pt x="0" y="949482"/>
                  </a:lnTo>
                  <a:lnTo>
                    <a:pt x="793279" y="0"/>
                  </a:lnTo>
                  <a:lnTo>
                    <a:pt x="793279" y="2019298"/>
                  </a:lnTo>
                  <a:lnTo>
                    <a:pt x="0" y="2968781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947849" y="4552670"/>
              <a:ext cx="340360" cy="1156970"/>
            </a:xfrm>
            <a:custGeom>
              <a:avLst/>
              <a:gdLst/>
              <a:ahLst/>
              <a:cxnLst/>
              <a:rect l="l" t="t" r="r" b="b"/>
              <a:pathLst>
                <a:path w="340359" h="1156970">
                  <a:moveTo>
                    <a:pt x="0" y="1156766"/>
                  </a:moveTo>
                  <a:lnTo>
                    <a:pt x="0" y="407128"/>
                  </a:lnTo>
                  <a:lnTo>
                    <a:pt x="340150" y="0"/>
                  </a:lnTo>
                  <a:lnTo>
                    <a:pt x="340150" y="749638"/>
                  </a:lnTo>
                  <a:lnTo>
                    <a:pt x="0" y="1156766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491538" y="2568962"/>
              <a:ext cx="796925" cy="1649730"/>
            </a:xfrm>
            <a:custGeom>
              <a:avLst/>
              <a:gdLst/>
              <a:ahLst/>
              <a:cxnLst/>
              <a:rect l="l" t="t" r="r" b="b"/>
              <a:pathLst>
                <a:path w="796925" h="1649729">
                  <a:moveTo>
                    <a:pt x="796459" y="542627"/>
                  </a:moveTo>
                  <a:lnTo>
                    <a:pt x="796459" y="730877"/>
                  </a:lnTo>
                  <a:lnTo>
                    <a:pt x="0" y="1649347"/>
                  </a:lnTo>
                  <a:lnTo>
                    <a:pt x="0" y="1484490"/>
                  </a:lnTo>
                  <a:lnTo>
                    <a:pt x="796459" y="542627"/>
                  </a:lnTo>
                  <a:close/>
                </a:path>
                <a:path w="796925" h="1649729">
                  <a:moveTo>
                    <a:pt x="0" y="0"/>
                  </a:moveTo>
                  <a:lnTo>
                    <a:pt x="796459" y="0"/>
                  </a:lnTo>
                  <a:lnTo>
                    <a:pt x="796459" y="398982"/>
                  </a:lnTo>
                  <a:lnTo>
                    <a:pt x="0" y="1340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2403" y="7699609"/>
            <a:ext cx="5065601" cy="2587388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0" y="0"/>
            <a:ext cx="4719320" cy="2510155"/>
            <a:chOff x="0" y="0"/>
            <a:chExt cx="4719320" cy="251015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718908" cy="251012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99448" y="155211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0"/>
                  </a:moveTo>
                  <a:lnTo>
                    <a:pt x="2363367" y="1517"/>
                  </a:lnTo>
                  <a:lnTo>
                    <a:pt x="2411353" y="6011"/>
                  </a:lnTo>
                  <a:lnTo>
                    <a:pt x="2458442" y="13389"/>
                  </a:lnTo>
                  <a:lnTo>
                    <a:pt x="2504544" y="23563"/>
                  </a:lnTo>
                  <a:lnTo>
                    <a:pt x="2549568" y="36440"/>
                  </a:lnTo>
                  <a:lnTo>
                    <a:pt x="2593425" y="51932"/>
                  </a:lnTo>
                  <a:lnTo>
                    <a:pt x="2636023" y="69947"/>
                  </a:lnTo>
                  <a:lnTo>
                    <a:pt x="2677272" y="90396"/>
                  </a:lnTo>
                  <a:lnTo>
                    <a:pt x="2717082" y="113187"/>
                  </a:lnTo>
                  <a:lnTo>
                    <a:pt x="2755363" y="138231"/>
                  </a:lnTo>
                  <a:lnTo>
                    <a:pt x="2792024" y="165437"/>
                  </a:lnTo>
                  <a:lnTo>
                    <a:pt x="2826975" y="194715"/>
                  </a:lnTo>
                  <a:lnTo>
                    <a:pt x="2860125" y="225974"/>
                  </a:lnTo>
                  <a:lnTo>
                    <a:pt x="2891384" y="259124"/>
                  </a:lnTo>
                  <a:lnTo>
                    <a:pt x="2920662" y="294075"/>
                  </a:lnTo>
                  <a:lnTo>
                    <a:pt x="2947868" y="330736"/>
                  </a:lnTo>
                  <a:lnTo>
                    <a:pt x="2972912" y="369016"/>
                  </a:lnTo>
                  <a:lnTo>
                    <a:pt x="2995703" y="408827"/>
                  </a:lnTo>
                  <a:lnTo>
                    <a:pt x="3016152" y="450076"/>
                  </a:lnTo>
                  <a:lnTo>
                    <a:pt x="3034167" y="492674"/>
                  </a:lnTo>
                  <a:lnTo>
                    <a:pt x="3049659" y="536530"/>
                  </a:lnTo>
                  <a:lnTo>
                    <a:pt x="3062536" y="581555"/>
                  </a:lnTo>
                  <a:lnTo>
                    <a:pt x="3072709" y="627657"/>
                  </a:lnTo>
                  <a:lnTo>
                    <a:pt x="3080088" y="674746"/>
                  </a:lnTo>
                  <a:lnTo>
                    <a:pt x="3084581" y="722732"/>
                  </a:lnTo>
                  <a:lnTo>
                    <a:pt x="3086099" y="771524"/>
                  </a:lnTo>
                  <a:lnTo>
                    <a:pt x="3084581" y="820317"/>
                  </a:lnTo>
                  <a:lnTo>
                    <a:pt x="3080088" y="868303"/>
                  </a:lnTo>
                  <a:lnTo>
                    <a:pt x="3072709" y="915392"/>
                  </a:lnTo>
                  <a:lnTo>
                    <a:pt x="3062536" y="961494"/>
                  </a:lnTo>
                  <a:lnTo>
                    <a:pt x="3049659" y="1006518"/>
                  </a:lnTo>
                  <a:lnTo>
                    <a:pt x="3034167" y="1050375"/>
                  </a:lnTo>
                  <a:lnTo>
                    <a:pt x="3016152" y="1092973"/>
                  </a:lnTo>
                  <a:lnTo>
                    <a:pt x="2995703" y="1134222"/>
                  </a:lnTo>
                  <a:lnTo>
                    <a:pt x="2972912" y="1174032"/>
                  </a:lnTo>
                  <a:lnTo>
                    <a:pt x="2947868" y="1212313"/>
                  </a:lnTo>
                  <a:lnTo>
                    <a:pt x="2920662" y="1248974"/>
                  </a:lnTo>
                  <a:lnTo>
                    <a:pt x="2891384" y="1283925"/>
                  </a:lnTo>
                  <a:lnTo>
                    <a:pt x="2860125" y="1317075"/>
                  </a:lnTo>
                  <a:lnTo>
                    <a:pt x="2826975" y="1348334"/>
                  </a:lnTo>
                  <a:lnTo>
                    <a:pt x="2792024" y="1377612"/>
                  </a:lnTo>
                  <a:lnTo>
                    <a:pt x="2755363" y="1404818"/>
                  </a:lnTo>
                  <a:lnTo>
                    <a:pt x="2717082" y="1429862"/>
                  </a:lnTo>
                  <a:lnTo>
                    <a:pt x="2677272" y="1452653"/>
                  </a:lnTo>
                  <a:lnTo>
                    <a:pt x="2636023" y="1473102"/>
                  </a:lnTo>
                  <a:lnTo>
                    <a:pt x="2593425" y="1491117"/>
                  </a:lnTo>
                  <a:lnTo>
                    <a:pt x="2549568" y="1506609"/>
                  </a:lnTo>
                  <a:lnTo>
                    <a:pt x="2504544" y="1519486"/>
                  </a:lnTo>
                  <a:lnTo>
                    <a:pt x="2458442" y="1529660"/>
                  </a:lnTo>
                  <a:lnTo>
                    <a:pt x="2411353" y="1537038"/>
                  </a:lnTo>
                  <a:lnTo>
                    <a:pt x="2363367" y="1541532"/>
                  </a:lnTo>
                  <a:lnTo>
                    <a:pt x="2314574" y="1543049"/>
                  </a:lnTo>
                  <a:lnTo>
                    <a:pt x="771524" y="1543049"/>
                  </a:ln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6"/>
                  </a:lnTo>
                  <a:lnTo>
                    <a:pt x="536530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6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2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8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4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0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6"/>
                  </a:lnTo>
                  <a:lnTo>
                    <a:pt x="138231" y="330736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6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0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4" y="0"/>
                  </a:lnTo>
                  <a:lnTo>
                    <a:pt x="23145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70191" y="635317"/>
            <a:ext cx="214503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IN" sz="2550" dirty="0" err="1">
                <a:latin typeface="Arial Black"/>
                <a:cs typeface="Arial Black"/>
              </a:rPr>
              <a:t>Infiniy</a:t>
            </a:r>
            <a:r>
              <a:rPr lang="en-IN" sz="2550" dirty="0">
                <a:latin typeface="Arial Black"/>
                <a:cs typeface="Arial Black"/>
              </a:rPr>
              <a:t> Loop</a:t>
            </a:r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730DC944-7149-480C-85B3-6709B42CA9C2}"/>
              </a:ext>
            </a:extLst>
          </p:cNvPr>
          <p:cNvSpPr/>
          <p:nvPr/>
        </p:nvSpPr>
        <p:spPr>
          <a:xfrm>
            <a:off x="2389398" y="2547887"/>
            <a:ext cx="2974955" cy="3299236"/>
          </a:xfrm>
          <a:prstGeom prst="roundRect">
            <a:avLst>
              <a:gd name="adj" fmla="val 99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57BDD857-C421-4DED-9DD0-C6BB208C94AE}"/>
              </a:ext>
            </a:extLst>
          </p:cNvPr>
          <p:cNvSpPr/>
          <p:nvPr/>
        </p:nvSpPr>
        <p:spPr>
          <a:xfrm>
            <a:off x="2582160" y="2740650"/>
            <a:ext cx="2752249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Machine Learning Models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2BF58EFA-7D3A-4255-919C-99F65C1C2161}"/>
              </a:ext>
            </a:extLst>
          </p:cNvPr>
          <p:cNvSpPr/>
          <p:nvPr/>
        </p:nvSpPr>
        <p:spPr>
          <a:xfrm>
            <a:off x="2582160" y="3441332"/>
            <a:ext cx="2752249" cy="182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XGBoost, LightGBM for tabular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LSTM for time-series modeling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RETAIN for interpretable predictions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1D95BA7A-861B-4AB1-9382-038B93BFC68C}"/>
              </a:ext>
            </a:extLst>
          </p:cNvPr>
          <p:cNvSpPr/>
          <p:nvPr/>
        </p:nvSpPr>
        <p:spPr>
          <a:xfrm>
            <a:off x="5691001" y="2547886"/>
            <a:ext cx="2974955" cy="3299235"/>
          </a:xfrm>
          <a:prstGeom prst="roundRect">
            <a:avLst>
              <a:gd name="adj" fmla="val 99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E5256791-6CDC-44C8-BCC0-D9E993AF695E}"/>
              </a:ext>
            </a:extLst>
          </p:cNvPr>
          <p:cNvSpPr/>
          <p:nvPr/>
        </p:nvSpPr>
        <p:spPr>
          <a:xfrm>
            <a:off x="5883763" y="274065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API &amp; Interface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1CC8FB72-1C2C-4B03-8413-AEA9C428F4C7}"/>
              </a:ext>
            </a:extLst>
          </p:cNvPr>
          <p:cNvSpPr/>
          <p:nvPr/>
        </p:nvSpPr>
        <p:spPr>
          <a:xfrm>
            <a:off x="5883763" y="3140104"/>
            <a:ext cx="2752368" cy="182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FastAPI backend for high-performance APIs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React frontend with interactive dashboard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REST + WebSocket communication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97059BB9-79D5-45F8-AABA-A91728BA9435}"/>
              </a:ext>
            </a:extLst>
          </p:cNvPr>
          <p:cNvSpPr/>
          <p:nvPr/>
        </p:nvSpPr>
        <p:spPr>
          <a:xfrm>
            <a:off x="8992723" y="2547887"/>
            <a:ext cx="3137773" cy="3299234"/>
          </a:xfrm>
          <a:prstGeom prst="roundRect">
            <a:avLst>
              <a:gd name="adj" fmla="val 99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FA040D35-85F7-46CF-9FE4-D456F6FD3F83}"/>
              </a:ext>
            </a:extLst>
          </p:cNvPr>
          <p:cNvSpPr/>
          <p:nvPr/>
        </p:nvSpPr>
        <p:spPr>
          <a:xfrm>
            <a:off x="9185485" y="274065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Data Infrastructure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C2609667-BEBE-4A5F-8101-3FF05D8DCAC5}"/>
              </a:ext>
            </a:extLst>
          </p:cNvPr>
          <p:cNvSpPr/>
          <p:nvPr/>
        </p:nvSpPr>
        <p:spPr>
          <a:xfrm>
            <a:off x="9185485" y="3140104"/>
            <a:ext cx="2752249" cy="182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PostgreSQL for structured storage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Redis for caching and fast access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Real-time patient data handling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5D2EB1AF-10D2-409E-87D7-3943969F2202}"/>
              </a:ext>
            </a:extLst>
          </p:cNvPr>
          <p:cNvSpPr/>
          <p:nvPr/>
        </p:nvSpPr>
        <p:spPr>
          <a:xfrm>
            <a:off x="12294326" y="2547886"/>
            <a:ext cx="2974955" cy="3332489"/>
          </a:xfrm>
          <a:prstGeom prst="roundRect">
            <a:avLst>
              <a:gd name="adj" fmla="val 99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852B5CE0-D720-4163-B322-F9F9E127C74B}"/>
              </a:ext>
            </a:extLst>
          </p:cNvPr>
          <p:cNvSpPr/>
          <p:nvPr/>
        </p:nvSpPr>
        <p:spPr>
          <a:xfrm>
            <a:off x="12487088" y="274065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Explainability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C16188CF-A587-4082-A8ED-4F4F7ABD4147}"/>
              </a:ext>
            </a:extLst>
          </p:cNvPr>
          <p:cNvSpPr/>
          <p:nvPr/>
        </p:nvSpPr>
        <p:spPr>
          <a:xfrm>
            <a:off x="12487088" y="3140104"/>
            <a:ext cx="2752368" cy="182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SHAP for global feature importance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LIME for local prediction explanations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Transparent, interpretable outputs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586FC62C-9B55-44CF-85D7-222AEB489095}"/>
              </a:ext>
            </a:extLst>
          </p:cNvPr>
          <p:cNvSpPr/>
          <p:nvPr/>
        </p:nvSpPr>
        <p:spPr>
          <a:xfrm>
            <a:off x="2389398" y="6281202"/>
            <a:ext cx="3167717" cy="2941955"/>
          </a:xfrm>
          <a:prstGeom prst="roundRect">
            <a:avLst>
              <a:gd name="adj" fmla="val 110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A0BA564C-038B-4D5E-B2AC-5D5562084435}"/>
              </a:ext>
            </a:extLst>
          </p:cNvPr>
          <p:cNvSpPr/>
          <p:nvPr/>
        </p:nvSpPr>
        <p:spPr>
          <a:xfrm>
            <a:off x="2612104" y="6359004"/>
            <a:ext cx="2752249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Hyperparameter Tuning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17F0BF51-2D07-4A71-8752-38383F2E498B}"/>
              </a:ext>
            </a:extLst>
          </p:cNvPr>
          <p:cNvSpPr/>
          <p:nvPr/>
        </p:nvSpPr>
        <p:spPr>
          <a:xfrm>
            <a:off x="2612104" y="7059687"/>
            <a:ext cx="2752249" cy="1198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Optuna for automated optimization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Improves model accuracy and efficiency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9FF22CA0-1CA8-4219-BD15-5736071E01C4}"/>
              </a:ext>
            </a:extLst>
          </p:cNvPr>
          <p:cNvSpPr/>
          <p:nvPr/>
        </p:nvSpPr>
        <p:spPr>
          <a:xfrm>
            <a:off x="5720945" y="6166241"/>
            <a:ext cx="3137772" cy="2990113"/>
          </a:xfrm>
          <a:prstGeom prst="roundRect">
            <a:avLst>
              <a:gd name="adj" fmla="val 110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7D96A9AA-E6AE-4116-9137-098848C0B391}"/>
              </a:ext>
            </a:extLst>
          </p:cNvPr>
          <p:cNvSpPr/>
          <p:nvPr/>
        </p:nvSpPr>
        <p:spPr>
          <a:xfrm>
            <a:off x="5913707" y="635900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Data Pipeline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0C151248-E648-448C-B0DD-DA8FC34F96D4}"/>
              </a:ext>
            </a:extLst>
          </p:cNvPr>
          <p:cNvSpPr/>
          <p:nvPr/>
        </p:nvSpPr>
        <p:spPr>
          <a:xfrm>
            <a:off x="5913707" y="6758459"/>
            <a:ext cx="2752368" cy="182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MIMIC/EHR data preprocessing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ICD encoding and feature engineering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Time-series feature extraction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0240FD61-1A43-4723-829A-BFC72745C5D0}"/>
              </a:ext>
            </a:extLst>
          </p:cNvPr>
          <p:cNvSpPr/>
          <p:nvPr/>
        </p:nvSpPr>
        <p:spPr>
          <a:xfrm>
            <a:off x="9022667" y="6166242"/>
            <a:ext cx="3107829" cy="2990112"/>
          </a:xfrm>
          <a:prstGeom prst="roundRect">
            <a:avLst>
              <a:gd name="adj" fmla="val 110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3FD998DE-7029-47BC-98F3-B7E4C5CE607B}"/>
              </a:ext>
            </a:extLst>
          </p:cNvPr>
          <p:cNvSpPr/>
          <p:nvPr/>
        </p:nvSpPr>
        <p:spPr>
          <a:xfrm>
            <a:off x="9215429" y="635900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Workflow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4FCB93D1-FA5C-4331-8A47-7D8A7517F1DA}"/>
              </a:ext>
            </a:extLst>
          </p:cNvPr>
          <p:cNvSpPr/>
          <p:nvPr/>
        </p:nvSpPr>
        <p:spPr>
          <a:xfrm>
            <a:off x="9215429" y="6758459"/>
            <a:ext cx="2752249" cy="182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Data → Model → Risk prediction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Explainability → Clinical insights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Alerts and dashboard visualization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22">
            <a:extLst>
              <a:ext uri="{FF2B5EF4-FFF2-40B4-BE49-F238E27FC236}">
                <a16:creationId xmlns:a16="http://schemas.microsoft.com/office/drawing/2014/main" id="{57211EFF-7792-4AED-AF0B-A751A3475220}"/>
              </a:ext>
            </a:extLst>
          </p:cNvPr>
          <p:cNvSpPr/>
          <p:nvPr/>
        </p:nvSpPr>
        <p:spPr>
          <a:xfrm>
            <a:off x="12324270" y="6166241"/>
            <a:ext cx="2945011" cy="3119112"/>
          </a:xfrm>
          <a:prstGeom prst="roundRect">
            <a:avLst>
              <a:gd name="adj" fmla="val 110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52146D40-D427-4AB4-95D6-2EAAFF42C90A}"/>
              </a:ext>
            </a:extLst>
          </p:cNvPr>
          <p:cNvSpPr/>
          <p:nvPr/>
        </p:nvSpPr>
        <p:spPr>
          <a:xfrm>
            <a:off x="12517032" y="635900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Deployment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552A6A16-B1DF-402A-9DD2-84F3E6A06DCE}"/>
              </a:ext>
            </a:extLst>
          </p:cNvPr>
          <p:cNvSpPr/>
          <p:nvPr/>
        </p:nvSpPr>
        <p:spPr>
          <a:xfrm>
            <a:off x="12517032" y="6758459"/>
            <a:ext cx="2752368" cy="182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Docker-based containerized deployment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Async processing with Celery workers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Scalable, production-ready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783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spc="-495" dirty="0"/>
              <a:t>FEASIBILITY</a:t>
            </a:r>
            <a:r>
              <a:rPr spc="-484" dirty="0"/>
              <a:t> </a:t>
            </a:r>
            <a:r>
              <a:rPr spc="-295" dirty="0"/>
              <a:t>AND</a:t>
            </a:r>
            <a:r>
              <a:rPr spc="-484" dirty="0"/>
              <a:t> </a:t>
            </a:r>
            <a:r>
              <a:rPr spc="-490" dirty="0"/>
              <a:t>VIABILITY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3148575" y="0"/>
            <a:ext cx="5139690" cy="5709920"/>
            <a:chOff x="13148575" y="0"/>
            <a:chExt cx="5139690" cy="5709920"/>
          </a:xfrm>
        </p:grpSpPr>
        <p:sp>
          <p:nvSpPr>
            <p:cNvPr id="8" name="object 8"/>
            <p:cNvSpPr/>
            <p:nvPr/>
          </p:nvSpPr>
          <p:spPr>
            <a:xfrm>
              <a:off x="13148575" y="0"/>
              <a:ext cx="5139690" cy="1254125"/>
            </a:xfrm>
            <a:custGeom>
              <a:avLst/>
              <a:gdLst/>
              <a:ahLst/>
              <a:cxnLst/>
              <a:rect l="l" t="t" r="r" b="b"/>
              <a:pathLst>
                <a:path w="5139690" h="1254125">
                  <a:moveTo>
                    <a:pt x="5139422" y="519002"/>
                  </a:moveTo>
                  <a:lnTo>
                    <a:pt x="5139422" y="686057"/>
                  </a:lnTo>
                  <a:lnTo>
                    <a:pt x="4647218" y="1253662"/>
                  </a:lnTo>
                  <a:lnTo>
                    <a:pt x="4647459" y="1253662"/>
                  </a:lnTo>
                  <a:lnTo>
                    <a:pt x="4570155" y="1192196"/>
                  </a:lnTo>
                  <a:lnTo>
                    <a:pt x="5139422" y="519002"/>
                  </a:lnTo>
                  <a:close/>
                </a:path>
                <a:path w="5139690" h="1254125">
                  <a:moveTo>
                    <a:pt x="3425426" y="451260"/>
                  </a:moveTo>
                  <a:lnTo>
                    <a:pt x="3617997" y="451260"/>
                  </a:lnTo>
                  <a:lnTo>
                    <a:pt x="3610114" y="454400"/>
                  </a:lnTo>
                  <a:lnTo>
                    <a:pt x="3602232" y="459142"/>
                  </a:lnTo>
                  <a:lnTo>
                    <a:pt x="2854952" y="1206360"/>
                  </a:lnTo>
                  <a:lnTo>
                    <a:pt x="2790354" y="1148043"/>
                  </a:lnTo>
                  <a:lnTo>
                    <a:pt x="3425426" y="451260"/>
                  </a:lnTo>
                  <a:close/>
                </a:path>
                <a:path w="5139690" h="1254125">
                  <a:moveTo>
                    <a:pt x="3836720" y="0"/>
                  </a:moveTo>
                  <a:lnTo>
                    <a:pt x="5139422" y="0"/>
                  </a:lnTo>
                  <a:lnTo>
                    <a:pt x="5139422" y="375121"/>
                  </a:lnTo>
                  <a:lnTo>
                    <a:pt x="4497674" y="1133818"/>
                  </a:lnTo>
                  <a:lnTo>
                    <a:pt x="3657408" y="459142"/>
                  </a:lnTo>
                  <a:lnTo>
                    <a:pt x="3651065" y="454400"/>
                  </a:lnTo>
                  <a:lnTo>
                    <a:pt x="3643183" y="451260"/>
                  </a:lnTo>
                  <a:lnTo>
                    <a:pt x="3425426" y="451260"/>
                  </a:lnTo>
                  <a:lnTo>
                    <a:pt x="3836720" y="0"/>
                  </a:lnTo>
                  <a:close/>
                </a:path>
                <a:path w="5139690" h="1254125">
                  <a:moveTo>
                    <a:pt x="0" y="0"/>
                  </a:moveTo>
                  <a:lnTo>
                    <a:pt x="841138" y="0"/>
                  </a:lnTo>
                  <a:lnTo>
                    <a:pt x="419320" y="403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634156" y="0"/>
              <a:ext cx="3221355" cy="1082040"/>
            </a:xfrm>
            <a:custGeom>
              <a:avLst/>
              <a:gdLst/>
              <a:ahLst/>
              <a:cxnLst/>
              <a:rect l="l" t="t" r="r" b="b"/>
              <a:pathLst>
                <a:path w="3221355" h="1082040">
                  <a:moveTo>
                    <a:pt x="489925" y="0"/>
                  </a:moveTo>
                  <a:lnTo>
                    <a:pt x="713024" y="0"/>
                  </a:lnTo>
                  <a:lnTo>
                    <a:pt x="696783" y="14531"/>
                  </a:lnTo>
                  <a:lnTo>
                    <a:pt x="685760" y="22413"/>
                  </a:lnTo>
                  <a:lnTo>
                    <a:pt x="679417" y="30295"/>
                  </a:lnTo>
                  <a:lnTo>
                    <a:pt x="92986" y="556870"/>
                  </a:lnTo>
                  <a:lnTo>
                    <a:pt x="0" y="468564"/>
                  </a:lnTo>
                  <a:lnTo>
                    <a:pt x="489925" y="0"/>
                  </a:lnTo>
                  <a:close/>
                </a:path>
                <a:path w="3221355" h="1082040">
                  <a:moveTo>
                    <a:pt x="1039696" y="0"/>
                  </a:moveTo>
                  <a:lnTo>
                    <a:pt x="3221105" y="0"/>
                  </a:lnTo>
                  <a:lnTo>
                    <a:pt x="2232232" y="1081844"/>
                  </a:lnTo>
                  <a:lnTo>
                    <a:pt x="1039696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99212" y="0"/>
              <a:ext cx="3320415" cy="1510030"/>
            </a:xfrm>
            <a:custGeom>
              <a:avLst/>
              <a:gdLst/>
              <a:ahLst/>
              <a:cxnLst/>
              <a:rect l="l" t="t" r="r" b="b"/>
              <a:pathLst>
                <a:path w="3320415" h="1510030">
                  <a:moveTo>
                    <a:pt x="2681523" y="560011"/>
                  </a:moveTo>
                  <a:lnTo>
                    <a:pt x="3319990" y="1072361"/>
                  </a:lnTo>
                  <a:lnTo>
                    <a:pt x="2921516" y="1509900"/>
                  </a:lnTo>
                  <a:lnTo>
                    <a:pt x="2914757" y="1509900"/>
                  </a:lnTo>
                  <a:lnTo>
                    <a:pt x="2257480" y="984054"/>
                  </a:lnTo>
                  <a:lnTo>
                    <a:pt x="2681523" y="560011"/>
                  </a:lnTo>
                  <a:close/>
                </a:path>
                <a:path w="3320415" h="1510030">
                  <a:moveTo>
                    <a:pt x="255374" y="121742"/>
                  </a:moveTo>
                  <a:lnTo>
                    <a:pt x="774005" y="640435"/>
                  </a:lnTo>
                  <a:lnTo>
                    <a:pt x="531255" y="883185"/>
                  </a:lnTo>
                  <a:lnTo>
                    <a:pt x="0" y="351930"/>
                  </a:lnTo>
                  <a:lnTo>
                    <a:pt x="130797" y="235235"/>
                  </a:lnTo>
                  <a:lnTo>
                    <a:pt x="129257" y="235235"/>
                  </a:lnTo>
                  <a:lnTo>
                    <a:pt x="255374" y="121742"/>
                  </a:lnTo>
                  <a:close/>
                </a:path>
                <a:path w="3320415" h="1510030">
                  <a:moveTo>
                    <a:pt x="390522" y="0"/>
                  </a:moveTo>
                  <a:lnTo>
                    <a:pt x="435048" y="0"/>
                  </a:lnTo>
                  <a:lnTo>
                    <a:pt x="945876" y="467024"/>
                  </a:lnTo>
                  <a:lnTo>
                    <a:pt x="838665" y="574174"/>
                  </a:lnTo>
                  <a:lnTo>
                    <a:pt x="323174" y="60285"/>
                  </a:lnTo>
                  <a:lnTo>
                    <a:pt x="390522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494693" y="3260583"/>
              <a:ext cx="793750" cy="2078355"/>
            </a:xfrm>
            <a:custGeom>
              <a:avLst/>
              <a:gdLst/>
              <a:ahLst/>
              <a:cxnLst/>
              <a:rect l="l" t="t" r="r" b="b"/>
              <a:pathLst>
                <a:path w="793750" h="2078354">
                  <a:moveTo>
                    <a:pt x="0" y="2077980"/>
                  </a:moveTo>
                  <a:lnTo>
                    <a:pt x="0" y="949514"/>
                  </a:lnTo>
                  <a:lnTo>
                    <a:pt x="793306" y="0"/>
                  </a:lnTo>
                  <a:lnTo>
                    <a:pt x="793306" y="1128465"/>
                  </a:lnTo>
                  <a:lnTo>
                    <a:pt x="0" y="207798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494720" y="926021"/>
              <a:ext cx="793750" cy="2969260"/>
            </a:xfrm>
            <a:custGeom>
              <a:avLst/>
              <a:gdLst/>
              <a:ahLst/>
              <a:cxnLst/>
              <a:rect l="l" t="t" r="r" b="b"/>
              <a:pathLst>
                <a:path w="793750" h="2969260">
                  <a:moveTo>
                    <a:pt x="0" y="2968781"/>
                  </a:moveTo>
                  <a:lnTo>
                    <a:pt x="0" y="949482"/>
                  </a:lnTo>
                  <a:lnTo>
                    <a:pt x="793279" y="0"/>
                  </a:lnTo>
                  <a:lnTo>
                    <a:pt x="793279" y="2019298"/>
                  </a:lnTo>
                  <a:lnTo>
                    <a:pt x="0" y="2968781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947848" y="4552669"/>
              <a:ext cx="340360" cy="1156970"/>
            </a:xfrm>
            <a:custGeom>
              <a:avLst/>
              <a:gdLst/>
              <a:ahLst/>
              <a:cxnLst/>
              <a:rect l="l" t="t" r="r" b="b"/>
              <a:pathLst>
                <a:path w="340359" h="1156970">
                  <a:moveTo>
                    <a:pt x="0" y="1156768"/>
                  </a:moveTo>
                  <a:lnTo>
                    <a:pt x="0" y="407130"/>
                  </a:lnTo>
                  <a:lnTo>
                    <a:pt x="340151" y="0"/>
                  </a:lnTo>
                  <a:lnTo>
                    <a:pt x="340151" y="749638"/>
                  </a:lnTo>
                  <a:lnTo>
                    <a:pt x="0" y="1156768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491538" y="2568962"/>
              <a:ext cx="796925" cy="1649730"/>
            </a:xfrm>
            <a:custGeom>
              <a:avLst/>
              <a:gdLst/>
              <a:ahLst/>
              <a:cxnLst/>
              <a:rect l="l" t="t" r="r" b="b"/>
              <a:pathLst>
                <a:path w="796925" h="1649729">
                  <a:moveTo>
                    <a:pt x="796459" y="542627"/>
                  </a:moveTo>
                  <a:lnTo>
                    <a:pt x="796459" y="730877"/>
                  </a:lnTo>
                  <a:lnTo>
                    <a:pt x="0" y="1649347"/>
                  </a:lnTo>
                  <a:lnTo>
                    <a:pt x="0" y="1484490"/>
                  </a:lnTo>
                  <a:lnTo>
                    <a:pt x="796459" y="542627"/>
                  </a:lnTo>
                  <a:close/>
                </a:path>
                <a:path w="796925" h="1649729">
                  <a:moveTo>
                    <a:pt x="0" y="0"/>
                  </a:moveTo>
                  <a:lnTo>
                    <a:pt x="796459" y="0"/>
                  </a:lnTo>
                  <a:lnTo>
                    <a:pt x="796459" y="398982"/>
                  </a:lnTo>
                  <a:lnTo>
                    <a:pt x="0" y="1340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0" y="4528729"/>
            <a:ext cx="5168265" cy="5758815"/>
            <a:chOff x="0" y="4528729"/>
            <a:chExt cx="5168265" cy="5758815"/>
          </a:xfrm>
        </p:grpSpPr>
        <p:sp>
          <p:nvSpPr>
            <p:cNvPr id="16" name="object 16"/>
            <p:cNvSpPr/>
            <p:nvPr/>
          </p:nvSpPr>
          <p:spPr>
            <a:xfrm>
              <a:off x="0" y="8984529"/>
              <a:ext cx="5168265" cy="1303020"/>
            </a:xfrm>
            <a:custGeom>
              <a:avLst/>
              <a:gdLst/>
              <a:ahLst/>
              <a:cxnLst/>
              <a:rect l="l" t="t" r="r" b="b"/>
              <a:pathLst>
                <a:path w="5168265" h="1303020">
                  <a:moveTo>
                    <a:pt x="0" y="708156"/>
                  </a:moveTo>
                  <a:lnTo>
                    <a:pt x="0" y="541760"/>
                  </a:lnTo>
                  <a:lnTo>
                    <a:pt x="469792" y="0"/>
                  </a:lnTo>
                  <a:lnTo>
                    <a:pt x="469551" y="0"/>
                  </a:lnTo>
                  <a:lnTo>
                    <a:pt x="546855" y="61465"/>
                  </a:lnTo>
                  <a:lnTo>
                    <a:pt x="0" y="708156"/>
                  </a:lnTo>
                  <a:close/>
                </a:path>
                <a:path w="5168265" h="1303020">
                  <a:moveTo>
                    <a:pt x="1691584" y="802402"/>
                  </a:moveTo>
                  <a:lnTo>
                    <a:pt x="1499014" y="802402"/>
                  </a:lnTo>
                  <a:lnTo>
                    <a:pt x="1506896" y="799261"/>
                  </a:lnTo>
                  <a:lnTo>
                    <a:pt x="1514778" y="794519"/>
                  </a:lnTo>
                  <a:lnTo>
                    <a:pt x="2262058" y="47301"/>
                  </a:lnTo>
                  <a:lnTo>
                    <a:pt x="2326656" y="105618"/>
                  </a:lnTo>
                  <a:lnTo>
                    <a:pt x="1691584" y="802402"/>
                  </a:lnTo>
                  <a:close/>
                </a:path>
                <a:path w="5168265" h="1303020">
                  <a:moveTo>
                    <a:pt x="1235805" y="1302469"/>
                  </a:moveTo>
                  <a:lnTo>
                    <a:pt x="0" y="1302469"/>
                  </a:lnTo>
                  <a:lnTo>
                    <a:pt x="0" y="852045"/>
                  </a:lnTo>
                  <a:lnTo>
                    <a:pt x="619336" y="119843"/>
                  </a:lnTo>
                  <a:lnTo>
                    <a:pt x="1459602" y="794519"/>
                  </a:lnTo>
                  <a:lnTo>
                    <a:pt x="1465945" y="799261"/>
                  </a:lnTo>
                  <a:lnTo>
                    <a:pt x="1473827" y="802402"/>
                  </a:lnTo>
                  <a:lnTo>
                    <a:pt x="1691584" y="802402"/>
                  </a:lnTo>
                  <a:lnTo>
                    <a:pt x="1235805" y="1302469"/>
                  </a:lnTo>
                  <a:close/>
                </a:path>
                <a:path w="5168265" h="1303020">
                  <a:moveTo>
                    <a:pt x="5167673" y="1302469"/>
                  </a:moveTo>
                  <a:lnTo>
                    <a:pt x="4224908" y="1302469"/>
                  </a:lnTo>
                  <a:lnTo>
                    <a:pt x="4697690" y="849696"/>
                  </a:lnTo>
                  <a:lnTo>
                    <a:pt x="5167673" y="1302469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65711" y="9156347"/>
              <a:ext cx="3265804" cy="1130935"/>
            </a:xfrm>
            <a:custGeom>
              <a:avLst/>
              <a:gdLst/>
              <a:ahLst/>
              <a:cxnLst/>
              <a:rect l="l" t="t" r="r" b="b"/>
              <a:pathLst>
                <a:path w="3265804" h="1130934">
                  <a:moveTo>
                    <a:pt x="2724760" y="1130652"/>
                  </a:moveTo>
                  <a:lnTo>
                    <a:pt x="2498145" y="1130652"/>
                  </a:lnTo>
                  <a:lnTo>
                    <a:pt x="2568935" y="1067313"/>
                  </a:lnTo>
                  <a:lnTo>
                    <a:pt x="2579958" y="1059431"/>
                  </a:lnTo>
                  <a:lnTo>
                    <a:pt x="2586301" y="1051548"/>
                  </a:lnTo>
                  <a:lnTo>
                    <a:pt x="3172732" y="524973"/>
                  </a:lnTo>
                  <a:lnTo>
                    <a:pt x="3265719" y="613280"/>
                  </a:lnTo>
                  <a:lnTo>
                    <a:pt x="2724760" y="1130652"/>
                  </a:lnTo>
                  <a:close/>
                </a:path>
                <a:path w="3265804" h="1130934">
                  <a:moveTo>
                    <a:pt x="2279823" y="1130652"/>
                  </a:moveTo>
                  <a:lnTo>
                    <a:pt x="0" y="1130652"/>
                  </a:lnTo>
                  <a:lnTo>
                    <a:pt x="1033486" y="0"/>
                  </a:lnTo>
                  <a:lnTo>
                    <a:pt x="2279823" y="1130652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6383" y="8728291"/>
              <a:ext cx="3320415" cy="1530350"/>
            </a:xfrm>
            <a:custGeom>
              <a:avLst/>
              <a:gdLst/>
              <a:ahLst/>
              <a:cxnLst/>
              <a:rect l="l" t="t" r="r" b="b"/>
              <a:pathLst>
                <a:path w="3320415" h="1530350">
                  <a:moveTo>
                    <a:pt x="638466" y="949889"/>
                  </a:moveTo>
                  <a:lnTo>
                    <a:pt x="0" y="437539"/>
                  </a:lnTo>
                  <a:lnTo>
                    <a:pt x="398473" y="0"/>
                  </a:lnTo>
                  <a:lnTo>
                    <a:pt x="405233" y="0"/>
                  </a:lnTo>
                  <a:lnTo>
                    <a:pt x="1062510" y="525845"/>
                  </a:lnTo>
                  <a:lnTo>
                    <a:pt x="638466" y="949889"/>
                  </a:lnTo>
                  <a:close/>
                </a:path>
                <a:path w="3320415" h="1530350">
                  <a:moveTo>
                    <a:pt x="3064616" y="1388157"/>
                  </a:moveTo>
                  <a:lnTo>
                    <a:pt x="2545984" y="869465"/>
                  </a:lnTo>
                  <a:lnTo>
                    <a:pt x="2788735" y="626714"/>
                  </a:lnTo>
                  <a:lnTo>
                    <a:pt x="3319990" y="1157969"/>
                  </a:lnTo>
                  <a:lnTo>
                    <a:pt x="3189193" y="1274665"/>
                  </a:lnTo>
                  <a:lnTo>
                    <a:pt x="3190733" y="1274665"/>
                  </a:lnTo>
                  <a:lnTo>
                    <a:pt x="3064616" y="1388157"/>
                  </a:lnTo>
                  <a:close/>
                </a:path>
                <a:path w="3320415" h="1530350">
                  <a:moveTo>
                    <a:pt x="2906970" y="1530039"/>
                  </a:moveTo>
                  <a:lnTo>
                    <a:pt x="2374113" y="1042875"/>
                  </a:lnTo>
                  <a:lnTo>
                    <a:pt x="2481325" y="935725"/>
                  </a:lnTo>
                  <a:lnTo>
                    <a:pt x="2996816" y="1449615"/>
                  </a:lnTo>
                  <a:lnTo>
                    <a:pt x="2906970" y="1530039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4899507"/>
              <a:ext cx="770890" cy="2051685"/>
            </a:xfrm>
            <a:custGeom>
              <a:avLst/>
              <a:gdLst/>
              <a:ahLst/>
              <a:cxnLst/>
              <a:rect l="l" t="t" r="r" b="b"/>
              <a:pathLst>
                <a:path w="770890" h="2051684">
                  <a:moveTo>
                    <a:pt x="770875" y="0"/>
                  </a:moveTo>
                  <a:lnTo>
                    <a:pt x="770875" y="1128465"/>
                  </a:lnTo>
                  <a:lnTo>
                    <a:pt x="0" y="2051133"/>
                  </a:lnTo>
                  <a:lnTo>
                    <a:pt x="0" y="922667"/>
                  </a:lnTo>
                  <a:lnTo>
                    <a:pt x="770875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6343270"/>
              <a:ext cx="771525" cy="2942590"/>
            </a:xfrm>
            <a:custGeom>
              <a:avLst/>
              <a:gdLst/>
              <a:ahLst/>
              <a:cxnLst/>
              <a:rect l="l" t="t" r="r" b="b"/>
              <a:pathLst>
                <a:path w="771525" h="2942590">
                  <a:moveTo>
                    <a:pt x="770901" y="0"/>
                  </a:moveTo>
                  <a:lnTo>
                    <a:pt x="770901" y="2019297"/>
                  </a:lnTo>
                  <a:lnTo>
                    <a:pt x="0" y="2941996"/>
                  </a:lnTo>
                  <a:lnTo>
                    <a:pt x="0" y="922698"/>
                  </a:lnTo>
                  <a:lnTo>
                    <a:pt x="770901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4528729"/>
              <a:ext cx="318135" cy="1130300"/>
            </a:xfrm>
            <a:custGeom>
              <a:avLst/>
              <a:gdLst/>
              <a:ahLst/>
              <a:cxnLst/>
              <a:rect l="l" t="t" r="r" b="b"/>
              <a:pathLst>
                <a:path w="318135" h="1130300">
                  <a:moveTo>
                    <a:pt x="317691" y="0"/>
                  </a:moveTo>
                  <a:lnTo>
                    <a:pt x="317691" y="749638"/>
                  </a:lnTo>
                  <a:lnTo>
                    <a:pt x="0" y="1129885"/>
                  </a:lnTo>
                  <a:lnTo>
                    <a:pt x="0" y="380247"/>
                  </a:lnTo>
                  <a:lnTo>
                    <a:pt x="317691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6019882"/>
              <a:ext cx="774700" cy="1649730"/>
            </a:xfrm>
            <a:custGeom>
              <a:avLst/>
              <a:gdLst/>
              <a:ahLst/>
              <a:cxnLst/>
              <a:rect l="l" t="t" r="r" b="b"/>
              <a:pathLst>
                <a:path w="774700" h="1649729">
                  <a:moveTo>
                    <a:pt x="0" y="1080285"/>
                  </a:moveTo>
                  <a:lnTo>
                    <a:pt x="0" y="892692"/>
                  </a:lnTo>
                  <a:lnTo>
                    <a:pt x="774106" y="0"/>
                  </a:lnTo>
                  <a:lnTo>
                    <a:pt x="774106" y="164857"/>
                  </a:lnTo>
                  <a:lnTo>
                    <a:pt x="0" y="1080285"/>
                  </a:lnTo>
                  <a:close/>
                </a:path>
                <a:path w="774700" h="1649729">
                  <a:moveTo>
                    <a:pt x="774106" y="1649347"/>
                  </a:moveTo>
                  <a:lnTo>
                    <a:pt x="0" y="1649347"/>
                  </a:lnTo>
                  <a:lnTo>
                    <a:pt x="0" y="1223937"/>
                  </a:lnTo>
                  <a:lnTo>
                    <a:pt x="774106" y="308762"/>
                  </a:lnTo>
                  <a:lnTo>
                    <a:pt x="774106" y="1649347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2403" y="7699609"/>
            <a:ext cx="5065601" cy="2587388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0" y="-61993"/>
            <a:ext cx="4719320" cy="2510155"/>
            <a:chOff x="0" y="0"/>
            <a:chExt cx="4719320" cy="251015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718908" cy="25101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99448" y="155211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0"/>
                  </a:moveTo>
                  <a:lnTo>
                    <a:pt x="2363367" y="1517"/>
                  </a:lnTo>
                  <a:lnTo>
                    <a:pt x="2411353" y="6011"/>
                  </a:lnTo>
                  <a:lnTo>
                    <a:pt x="2458442" y="13389"/>
                  </a:lnTo>
                  <a:lnTo>
                    <a:pt x="2504544" y="23563"/>
                  </a:lnTo>
                  <a:lnTo>
                    <a:pt x="2549568" y="36440"/>
                  </a:lnTo>
                  <a:lnTo>
                    <a:pt x="2593425" y="51932"/>
                  </a:lnTo>
                  <a:lnTo>
                    <a:pt x="2636023" y="69947"/>
                  </a:lnTo>
                  <a:lnTo>
                    <a:pt x="2677272" y="90396"/>
                  </a:lnTo>
                  <a:lnTo>
                    <a:pt x="2717082" y="113187"/>
                  </a:lnTo>
                  <a:lnTo>
                    <a:pt x="2755363" y="138231"/>
                  </a:lnTo>
                  <a:lnTo>
                    <a:pt x="2792024" y="165437"/>
                  </a:lnTo>
                  <a:lnTo>
                    <a:pt x="2826975" y="194715"/>
                  </a:lnTo>
                  <a:lnTo>
                    <a:pt x="2860125" y="225974"/>
                  </a:lnTo>
                  <a:lnTo>
                    <a:pt x="2891384" y="259124"/>
                  </a:lnTo>
                  <a:lnTo>
                    <a:pt x="2920662" y="294075"/>
                  </a:lnTo>
                  <a:lnTo>
                    <a:pt x="2947868" y="330736"/>
                  </a:lnTo>
                  <a:lnTo>
                    <a:pt x="2972912" y="369016"/>
                  </a:lnTo>
                  <a:lnTo>
                    <a:pt x="2995703" y="408827"/>
                  </a:lnTo>
                  <a:lnTo>
                    <a:pt x="3016152" y="450076"/>
                  </a:lnTo>
                  <a:lnTo>
                    <a:pt x="3034167" y="492674"/>
                  </a:lnTo>
                  <a:lnTo>
                    <a:pt x="3049659" y="536530"/>
                  </a:lnTo>
                  <a:lnTo>
                    <a:pt x="3062536" y="581555"/>
                  </a:lnTo>
                  <a:lnTo>
                    <a:pt x="3072709" y="627657"/>
                  </a:lnTo>
                  <a:lnTo>
                    <a:pt x="3080088" y="674746"/>
                  </a:lnTo>
                  <a:lnTo>
                    <a:pt x="3084581" y="722732"/>
                  </a:lnTo>
                  <a:lnTo>
                    <a:pt x="3086099" y="771524"/>
                  </a:lnTo>
                  <a:lnTo>
                    <a:pt x="3084581" y="820317"/>
                  </a:lnTo>
                  <a:lnTo>
                    <a:pt x="3080088" y="868303"/>
                  </a:lnTo>
                  <a:lnTo>
                    <a:pt x="3072709" y="915392"/>
                  </a:lnTo>
                  <a:lnTo>
                    <a:pt x="3062536" y="961494"/>
                  </a:lnTo>
                  <a:lnTo>
                    <a:pt x="3049659" y="1006518"/>
                  </a:lnTo>
                  <a:lnTo>
                    <a:pt x="3034167" y="1050375"/>
                  </a:lnTo>
                  <a:lnTo>
                    <a:pt x="3016152" y="1092973"/>
                  </a:lnTo>
                  <a:lnTo>
                    <a:pt x="2995703" y="1134222"/>
                  </a:lnTo>
                  <a:lnTo>
                    <a:pt x="2972912" y="1174032"/>
                  </a:lnTo>
                  <a:lnTo>
                    <a:pt x="2947868" y="1212313"/>
                  </a:lnTo>
                  <a:lnTo>
                    <a:pt x="2920662" y="1248974"/>
                  </a:lnTo>
                  <a:lnTo>
                    <a:pt x="2891384" y="1283925"/>
                  </a:lnTo>
                  <a:lnTo>
                    <a:pt x="2860125" y="1317075"/>
                  </a:lnTo>
                  <a:lnTo>
                    <a:pt x="2826975" y="1348334"/>
                  </a:lnTo>
                  <a:lnTo>
                    <a:pt x="2792024" y="1377612"/>
                  </a:lnTo>
                  <a:lnTo>
                    <a:pt x="2755363" y="1404818"/>
                  </a:lnTo>
                  <a:lnTo>
                    <a:pt x="2717082" y="1429862"/>
                  </a:lnTo>
                  <a:lnTo>
                    <a:pt x="2677272" y="1452653"/>
                  </a:lnTo>
                  <a:lnTo>
                    <a:pt x="2636023" y="1473102"/>
                  </a:lnTo>
                  <a:lnTo>
                    <a:pt x="2593425" y="1491117"/>
                  </a:lnTo>
                  <a:lnTo>
                    <a:pt x="2549568" y="1506609"/>
                  </a:lnTo>
                  <a:lnTo>
                    <a:pt x="2504544" y="1519486"/>
                  </a:lnTo>
                  <a:lnTo>
                    <a:pt x="2458442" y="1529660"/>
                  </a:lnTo>
                  <a:lnTo>
                    <a:pt x="2411353" y="1537038"/>
                  </a:lnTo>
                  <a:lnTo>
                    <a:pt x="2363367" y="1541532"/>
                  </a:lnTo>
                  <a:lnTo>
                    <a:pt x="2314574" y="1543049"/>
                  </a:lnTo>
                  <a:lnTo>
                    <a:pt x="771524" y="1543049"/>
                  </a:ln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6"/>
                  </a:lnTo>
                  <a:lnTo>
                    <a:pt x="536530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6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2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8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4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0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6"/>
                  </a:lnTo>
                  <a:lnTo>
                    <a:pt x="138231" y="330736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6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0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4" y="0"/>
                  </a:lnTo>
                  <a:lnTo>
                    <a:pt x="23145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70191" y="635317"/>
            <a:ext cx="214503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IN" sz="2550" dirty="0" err="1">
                <a:latin typeface="Arial Black"/>
                <a:cs typeface="Arial Black"/>
              </a:rPr>
              <a:t>Infiniy</a:t>
            </a:r>
            <a:r>
              <a:rPr lang="en-IN" sz="2550" dirty="0">
                <a:latin typeface="Arial Black"/>
                <a:cs typeface="Arial Black"/>
              </a:rPr>
              <a:t> Loop</a:t>
            </a: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4CCC60EC-ABC0-4EB0-A664-C785148B35E6}"/>
              </a:ext>
            </a:extLst>
          </p:cNvPr>
          <p:cNvSpPr/>
          <p:nvPr/>
        </p:nvSpPr>
        <p:spPr>
          <a:xfrm>
            <a:off x="2622649" y="3242726"/>
            <a:ext cx="3966607" cy="4929936"/>
          </a:xfrm>
          <a:prstGeom prst="roundRect">
            <a:avLst>
              <a:gd name="adj" fmla="val 89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69C53EE2-8ED8-42AC-A5C9-424E1C9D76B6}"/>
              </a:ext>
            </a:extLst>
          </p:cNvPr>
          <p:cNvSpPr/>
          <p:nvPr/>
        </p:nvSpPr>
        <p:spPr>
          <a:xfrm>
            <a:off x="2849463" y="34695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Feasibility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7A9CAB68-4D67-4568-A49D-3836133BE81F}"/>
              </a:ext>
            </a:extLst>
          </p:cNvPr>
          <p:cNvSpPr/>
          <p:nvPr/>
        </p:nvSpPr>
        <p:spPr>
          <a:xfrm>
            <a:off x="2886666" y="4218692"/>
            <a:ext cx="374273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Uses MIMIC-III and EHR datasets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Built on scalable backend systems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Based on validated ML models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Compatible with hospital infrastructure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Supports synthetic demo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FF08E58E-7C97-4B8E-8473-C73627406EAF}"/>
              </a:ext>
            </a:extLst>
          </p:cNvPr>
          <p:cNvSpPr/>
          <p:nvPr/>
        </p:nvSpPr>
        <p:spPr>
          <a:xfrm>
            <a:off x="7045821" y="3242726"/>
            <a:ext cx="4196358" cy="4929936"/>
          </a:xfrm>
          <a:prstGeom prst="roundRect">
            <a:avLst>
              <a:gd name="adj" fmla="val 89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BED619BD-61BD-420D-AA54-C285F6FA2646}"/>
              </a:ext>
            </a:extLst>
          </p:cNvPr>
          <p:cNvSpPr/>
          <p:nvPr/>
        </p:nvSpPr>
        <p:spPr>
          <a:xfrm>
            <a:off x="7272635" y="34695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Challenges &amp; Risks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5603A785-1708-44E1-A4E3-7BA5B9ADF5AC}"/>
              </a:ext>
            </a:extLst>
          </p:cNvPr>
          <p:cNvSpPr/>
          <p:nvPr/>
        </p:nvSpPr>
        <p:spPr>
          <a:xfrm>
            <a:off x="7272635" y="4218692"/>
            <a:ext cx="374273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Data privacy and compliance issues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Limited real-world data access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Model bias and accuracy concerns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Integration with legacy systems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Clinician trust and adoption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49E6BADD-F907-49A1-853A-ED5EF64B3E7A}"/>
              </a:ext>
            </a:extLst>
          </p:cNvPr>
          <p:cNvSpPr/>
          <p:nvPr/>
        </p:nvSpPr>
        <p:spPr>
          <a:xfrm>
            <a:off x="11468992" y="3242726"/>
            <a:ext cx="4304408" cy="4929936"/>
          </a:xfrm>
          <a:prstGeom prst="roundRect">
            <a:avLst>
              <a:gd name="adj" fmla="val 89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9CAF9564-958F-4B22-B932-E8BC6315ED88}"/>
              </a:ext>
            </a:extLst>
          </p:cNvPr>
          <p:cNvSpPr/>
          <p:nvPr/>
        </p:nvSpPr>
        <p:spPr>
          <a:xfrm>
            <a:off x="11695807" y="34695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Mitigation Strategies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EDE9374E-DA12-47D9-8FE3-41EB3E96CA5A}"/>
              </a:ext>
            </a:extLst>
          </p:cNvPr>
          <p:cNvSpPr/>
          <p:nvPr/>
        </p:nvSpPr>
        <p:spPr>
          <a:xfrm>
            <a:off x="11673172" y="4230279"/>
            <a:ext cx="374273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Encryption and secure data handling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Synthetic and open dataset usage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Bias monitoring and validation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Explainable AI for transparency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User-friendly clinical interface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65" dirty="0"/>
              <a:t>IMPACT</a:t>
            </a:r>
            <a:r>
              <a:rPr spc="-495" dirty="0"/>
              <a:t> </a:t>
            </a:r>
            <a:r>
              <a:rPr spc="-295" dirty="0"/>
              <a:t>AND</a:t>
            </a:r>
            <a:r>
              <a:rPr spc="-495" dirty="0"/>
              <a:t> </a:t>
            </a:r>
            <a:r>
              <a:rPr spc="-500" dirty="0"/>
              <a:t>BENEFITS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148575" y="0"/>
            <a:ext cx="5139690" cy="5709920"/>
            <a:chOff x="13148575" y="0"/>
            <a:chExt cx="5139690" cy="5709920"/>
          </a:xfrm>
        </p:grpSpPr>
        <p:sp>
          <p:nvSpPr>
            <p:cNvPr id="7" name="object 7"/>
            <p:cNvSpPr/>
            <p:nvPr/>
          </p:nvSpPr>
          <p:spPr>
            <a:xfrm>
              <a:off x="13148575" y="0"/>
              <a:ext cx="5139690" cy="1254125"/>
            </a:xfrm>
            <a:custGeom>
              <a:avLst/>
              <a:gdLst/>
              <a:ahLst/>
              <a:cxnLst/>
              <a:rect l="l" t="t" r="r" b="b"/>
              <a:pathLst>
                <a:path w="5139690" h="1254125">
                  <a:moveTo>
                    <a:pt x="5139422" y="519002"/>
                  </a:moveTo>
                  <a:lnTo>
                    <a:pt x="5139422" y="686057"/>
                  </a:lnTo>
                  <a:lnTo>
                    <a:pt x="4647218" y="1253662"/>
                  </a:lnTo>
                  <a:lnTo>
                    <a:pt x="4647459" y="1253662"/>
                  </a:lnTo>
                  <a:lnTo>
                    <a:pt x="4570155" y="1192196"/>
                  </a:lnTo>
                  <a:lnTo>
                    <a:pt x="5139422" y="519002"/>
                  </a:lnTo>
                  <a:close/>
                </a:path>
                <a:path w="5139690" h="1254125">
                  <a:moveTo>
                    <a:pt x="3425426" y="451260"/>
                  </a:moveTo>
                  <a:lnTo>
                    <a:pt x="3617997" y="451260"/>
                  </a:lnTo>
                  <a:lnTo>
                    <a:pt x="3610114" y="454400"/>
                  </a:lnTo>
                  <a:lnTo>
                    <a:pt x="3602232" y="459142"/>
                  </a:lnTo>
                  <a:lnTo>
                    <a:pt x="2854952" y="1206360"/>
                  </a:lnTo>
                  <a:lnTo>
                    <a:pt x="2790354" y="1148043"/>
                  </a:lnTo>
                  <a:lnTo>
                    <a:pt x="3425426" y="451260"/>
                  </a:lnTo>
                  <a:close/>
                </a:path>
                <a:path w="5139690" h="1254125">
                  <a:moveTo>
                    <a:pt x="3836720" y="0"/>
                  </a:moveTo>
                  <a:lnTo>
                    <a:pt x="5139422" y="0"/>
                  </a:lnTo>
                  <a:lnTo>
                    <a:pt x="5139422" y="375121"/>
                  </a:lnTo>
                  <a:lnTo>
                    <a:pt x="4497674" y="1133818"/>
                  </a:lnTo>
                  <a:lnTo>
                    <a:pt x="3657408" y="459142"/>
                  </a:lnTo>
                  <a:lnTo>
                    <a:pt x="3651065" y="454400"/>
                  </a:lnTo>
                  <a:lnTo>
                    <a:pt x="3643183" y="451260"/>
                  </a:lnTo>
                  <a:lnTo>
                    <a:pt x="3425426" y="451260"/>
                  </a:lnTo>
                  <a:lnTo>
                    <a:pt x="3836720" y="0"/>
                  </a:lnTo>
                  <a:close/>
                </a:path>
                <a:path w="5139690" h="1254125">
                  <a:moveTo>
                    <a:pt x="0" y="0"/>
                  </a:moveTo>
                  <a:lnTo>
                    <a:pt x="841138" y="0"/>
                  </a:lnTo>
                  <a:lnTo>
                    <a:pt x="419320" y="403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34156" y="0"/>
              <a:ext cx="3221355" cy="1082040"/>
            </a:xfrm>
            <a:custGeom>
              <a:avLst/>
              <a:gdLst/>
              <a:ahLst/>
              <a:cxnLst/>
              <a:rect l="l" t="t" r="r" b="b"/>
              <a:pathLst>
                <a:path w="3221355" h="1082040">
                  <a:moveTo>
                    <a:pt x="489925" y="0"/>
                  </a:moveTo>
                  <a:lnTo>
                    <a:pt x="713024" y="0"/>
                  </a:lnTo>
                  <a:lnTo>
                    <a:pt x="696783" y="14531"/>
                  </a:lnTo>
                  <a:lnTo>
                    <a:pt x="685760" y="22413"/>
                  </a:lnTo>
                  <a:lnTo>
                    <a:pt x="679417" y="30295"/>
                  </a:lnTo>
                  <a:lnTo>
                    <a:pt x="92986" y="556870"/>
                  </a:lnTo>
                  <a:lnTo>
                    <a:pt x="0" y="468564"/>
                  </a:lnTo>
                  <a:lnTo>
                    <a:pt x="489925" y="0"/>
                  </a:lnTo>
                  <a:close/>
                </a:path>
                <a:path w="3221355" h="1082040">
                  <a:moveTo>
                    <a:pt x="1039696" y="0"/>
                  </a:moveTo>
                  <a:lnTo>
                    <a:pt x="3221105" y="0"/>
                  </a:lnTo>
                  <a:lnTo>
                    <a:pt x="2232232" y="1081844"/>
                  </a:lnTo>
                  <a:lnTo>
                    <a:pt x="1039696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099212" y="0"/>
              <a:ext cx="3320415" cy="1510030"/>
            </a:xfrm>
            <a:custGeom>
              <a:avLst/>
              <a:gdLst/>
              <a:ahLst/>
              <a:cxnLst/>
              <a:rect l="l" t="t" r="r" b="b"/>
              <a:pathLst>
                <a:path w="3320415" h="1510030">
                  <a:moveTo>
                    <a:pt x="2681523" y="560011"/>
                  </a:moveTo>
                  <a:lnTo>
                    <a:pt x="3319990" y="1072361"/>
                  </a:lnTo>
                  <a:lnTo>
                    <a:pt x="2921516" y="1509900"/>
                  </a:lnTo>
                  <a:lnTo>
                    <a:pt x="2914757" y="1509900"/>
                  </a:lnTo>
                  <a:lnTo>
                    <a:pt x="2257480" y="984054"/>
                  </a:lnTo>
                  <a:lnTo>
                    <a:pt x="2681523" y="560011"/>
                  </a:lnTo>
                  <a:close/>
                </a:path>
                <a:path w="3320415" h="1510030">
                  <a:moveTo>
                    <a:pt x="255374" y="121742"/>
                  </a:moveTo>
                  <a:lnTo>
                    <a:pt x="774005" y="640435"/>
                  </a:lnTo>
                  <a:lnTo>
                    <a:pt x="531255" y="883185"/>
                  </a:lnTo>
                  <a:lnTo>
                    <a:pt x="0" y="351930"/>
                  </a:lnTo>
                  <a:lnTo>
                    <a:pt x="130797" y="235235"/>
                  </a:lnTo>
                  <a:lnTo>
                    <a:pt x="129257" y="235235"/>
                  </a:lnTo>
                  <a:lnTo>
                    <a:pt x="255374" y="121742"/>
                  </a:lnTo>
                  <a:close/>
                </a:path>
                <a:path w="3320415" h="1510030">
                  <a:moveTo>
                    <a:pt x="390522" y="0"/>
                  </a:moveTo>
                  <a:lnTo>
                    <a:pt x="435048" y="0"/>
                  </a:lnTo>
                  <a:lnTo>
                    <a:pt x="945876" y="467024"/>
                  </a:lnTo>
                  <a:lnTo>
                    <a:pt x="838665" y="574174"/>
                  </a:lnTo>
                  <a:lnTo>
                    <a:pt x="323174" y="60285"/>
                  </a:lnTo>
                  <a:lnTo>
                    <a:pt x="390522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494693" y="3260583"/>
              <a:ext cx="793750" cy="2078355"/>
            </a:xfrm>
            <a:custGeom>
              <a:avLst/>
              <a:gdLst/>
              <a:ahLst/>
              <a:cxnLst/>
              <a:rect l="l" t="t" r="r" b="b"/>
              <a:pathLst>
                <a:path w="793750" h="2078354">
                  <a:moveTo>
                    <a:pt x="0" y="2077980"/>
                  </a:moveTo>
                  <a:lnTo>
                    <a:pt x="0" y="949514"/>
                  </a:lnTo>
                  <a:lnTo>
                    <a:pt x="793306" y="0"/>
                  </a:lnTo>
                  <a:lnTo>
                    <a:pt x="793306" y="1128465"/>
                  </a:lnTo>
                  <a:lnTo>
                    <a:pt x="0" y="207798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494720" y="926021"/>
              <a:ext cx="793750" cy="2969260"/>
            </a:xfrm>
            <a:custGeom>
              <a:avLst/>
              <a:gdLst/>
              <a:ahLst/>
              <a:cxnLst/>
              <a:rect l="l" t="t" r="r" b="b"/>
              <a:pathLst>
                <a:path w="793750" h="2969260">
                  <a:moveTo>
                    <a:pt x="0" y="2968781"/>
                  </a:moveTo>
                  <a:lnTo>
                    <a:pt x="0" y="949482"/>
                  </a:lnTo>
                  <a:lnTo>
                    <a:pt x="793279" y="0"/>
                  </a:lnTo>
                  <a:lnTo>
                    <a:pt x="793279" y="2019298"/>
                  </a:lnTo>
                  <a:lnTo>
                    <a:pt x="0" y="2968781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947848" y="4552669"/>
              <a:ext cx="340360" cy="1156970"/>
            </a:xfrm>
            <a:custGeom>
              <a:avLst/>
              <a:gdLst/>
              <a:ahLst/>
              <a:cxnLst/>
              <a:rect l="l" t="t" r="r" b="b"/>
              <a:pathLst>
                <a:path w="340359" h="1156970">
                  <a:moveTo>
                    <a:pt x="0" y="1156768"/>
                  </a:moveTo>
                  <a:lnTo>
                    <a:pt x="0" y="407130"/>
                  </a:lnTo>
                  <a:lnTo>
                    <a:pt x="340151" y="0"/>
                  </a:lnTo>
                  <a:lnTo>
                    <a:pt x="340151" y="749638"/>
                  </a:lnTo>
                  <a:lnTo>
                    <a:pt x="0" y="1156768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491538" y="2568962"/>
              <a:ext cx="796925" cy="1649730"/>
            </a:xfrm>
            <a:custGeom>
              <a:avLst/>
              <a:gdLst/>
              <a:ahLst/>
              <a:cxnLst/>
              <a:rect l="l" t="t" r="r" b="b"/>
              <a:pathLst>
                <a:path w="796925" h="1649729">
                  <a:moveTo>
                    <a:pt x="796459" y="542627"/>
                  </a:moveTo>
                  <a:lnTo>
                    <a:pt x="796459" y="730877"/>
                  </a:lnTo>
                  <a:lnTo>
                    <a:pt x="0" y="1649347"/>
                  </a:lnTo>
                  <a:lnTo>
                    <a:pt x="0" y="1484490"/>
                  </a:lnTo>
                  <a:lnTo>
                    <a:pt x="796459" y="542627"/>
                  </a:lnTo>
                  <a:close/>
                </a:path>
                <a:path w="796925" h="1649729">
                  <a:moveTo>
                    <a:pt x="0" y="0"/>
                  </a:moveTo>
                  <a:lnTo>
                    <a:pt x="796459" y="0"/>
                  </a:lnTo>
                  <a:lnTo>
                    <a:pt x="796459" y="398982"/>
                  </a:lnTo>
                  <a:lnTo>
                    <a:pt x="0" y="1340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0" y="4528729"/>
            <a:ext cx="5168265" cy="5758815"/>
            <a:chOff x="0" y="4528729"/>
            <a:chExt cx="5168265" cy="5758815"/>
          </a:xfrm>
        </p:grpSpPr>
        <p:sp>
          <p:nvSpPr>
            <p:cNvPr id="15" name="object 15"/>
            <p:cNvSpPr/>
            <p:nvPr/>
          </p:nvSpPr>
          <p:spPr>
            <a:xfrm>
              <a:off x="0" y="8984529"/>
              <a:ext cx="5168265" cy="1303020"/>
            </a:xfrm>
            <a:custGeom>
              <a:avLst/>
              <a:gdLst/>
              <a:ahLst/>
              <a:cxnLst/>
              <a:rect l="l" t="t" r="r" b="b"/>
              <a:pathLst>
                <a:path w="5168265" h="1303020">
                  <a:moveTo>
                    <a:pt x="0" y="708156"/>
                  </a:moveTo>
                  <a:lnTo>
                    <a:pt x="0" y="541760"/>
                  </a:lnTo>
                  <a:lnTo>
                    <a:pt x="469792" y="0"/>
                  </a:lnTo>
                  <a:lnTo>
                    <a:pt x="469551" y="0"/>
                  </a:lnTo>
                  <a:lnTo>
                    <a:pt x="546855" y="61465"/>
                  </a:lnTo>
                  <a:lnTo>
                    <a:pt x="0" y="708156"/>
                  </a:lnTo>
                  <a:close/>
                </a:path>
                <a:path w="5168265" h="1303020">
                  <a:moveTo>
                    <a:pt x="1691584" y="802402"/>
                  </a:moveTo>
                  <a:lnTo>
                    <a:pt x="1499014" y="802402"/>
                  </a:lnTo>
                  <a:lnTo>
                    <a:pt x="1506896" y="799261"/>
                  </a:lnTo>
                  <a:lnTo>
                    <a:pt x="1514778" y="794519"/>
                  </a:lnTo>
                  <a:lnTo>
                    <a:pt x="2262058" y="47301"/>
                  </a:lnTo>
                  <a:lnTo>
                    <a:pt x="2326656" y="105618"/>
                  </a:lnTo>
                  <a:lnTo>
                    <a:pt x="1691584" y="802402"/>
                  </a:lnTo>
                  <a:close/>
                </a:path>
                <a:path w="5168265" h="1303020">
                  <a:moveTo>
                    <a:pt x="1235805" y="1302469"/>
                  </a:moveTo>
                  <a:lnTo>
                    <a:pt x="0" y="1302469"/>
                  </a:lnTo>
                  <a:lnTo>
                    <a:pt x="0" y="852045"/>
                  </a:lnTo>
                  <a:lnTo>
                    <a:pt x="619336" y="119843"/>
                  </a:lnTo>
                  <a:lnTo>
                    <a:pt x="1459602" y="794519"/>
                  </a:lnTo>
                  <a:lnTo>
                    <a:pt x="1465945" y="799261"/>
                  </a:lnTo>
                  <a:lnTo>
                    <a:pt x="1473827" y="802402"/>
                  </a:lnTo>
                  <a:lnTo>
                    <a:pt x="1691584" y="802402"/>
                  </a:lnTo>
                  <a:lnTo>
                    <a:pt x="1235805" y="1302469"/>
                  </a:lnTo>
                  <a:close/>
                </a:path>
                <a:path w="5168265" h="1303020">
                  <a:moveTo>
                    <a:pt x="5167673" y="1302469"/>
                  </a:moveTo>
                  <a:lnTo>
                    <a:pt x="4224908" y="1302469"/>
                  </a:lnTo>
                  <a:lnTo>
                    <a:pt x="4697690" y="849696"/>
                  </a:lnTo>
                  <a:lnTo>
                    <a:pt x="5167673" y="1302469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65711" y="9156347"/>
              <a:ext cx="3265804" cy="1130935"/>
            </a:xfrm>
            <a:custGeom>
              <a:avLst/>
              <a:gdLst/>
              <a:ahLst/>
              <a:cxnLst/>
              <a:rect l="l" t="t" r="r" b="b"/>
              <a:pathLst>
                <a:path w="3265804" h="1130934">
                  <a:moveTo>
                    <a:pt x="2724760" y="1130652"/>
                  </a:moveTo>
                  <a:lnTo>
                    <a:pt x="2498145" y="1130652"/>
                  </a:lnTo>
                  <a:lnTo>
                    <a:pt x="2568935" y="1067313"/>
                  </a:lnTo>
                  <a:lnTo>
                    <a:pt x="2579958" y="1059431"/>
                  </a:lnTo>
                  <a:lnTo>
                    <a:pt x="2586301" y="1051548"/>
                  </a:lnTo>
                  <a:lnTo>
                    <a:pt x="3172732" y="524973"/>
                  </a:lnTo>
                  <a:lnTo>
                    <a:pt x="3265719" y="613280"/>
                  </a:lnTo>
                  <a:lnTo>
                    <a:pt x="2724760" y="1130652"/>
                  </a:lnTo>
                  <a:close/>
                </a:path>
                <a:path w="3265804" h="1130934">
                  <a:moveTo>
                    <a:pt x="2279823" y="1130652"/>
                  </a:moveTo>
                  <a:lnTo>
                    <a:pt x="0" y="1130652"/>
                  </a:lnTo>
                  <a:lnTo>
                    <a:pt x="1033486" y="0"/>
                  </a:lnTo>
                  <a:lnTo>
                    <a:pt x="2279823" y="1130652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6383" y="8728291"/>
              <a:ext cx="3320415" cy="1530350"/>
            </a:xfrm>
            <a:custGeom>
              <a:avLst/>
              <a:gdLst/>
              <a:ahLst/>
              <a:cxnLst/>
              <a:rect l="l" t="t" r="r" b="b"/>
              <a:pathLst>
                <a:path w="3320415" h="1530350">
                  <a:moveTo>
                    <a:pt x="638466" y="949889"/>
                  </a:moveTo>
                  <a:lnTo>
                    <a:pt x="0" y="437539"/>
                  </a:lnTo>
                  <a:lnTo>
                    <a:pt x="398473" y="0"/>
                  </a:lnTo>
                  <a:lnTo>
                    <a:pt x="405233" y="0"/>
                  </a:lnTo>
                  <a:lnTo>
                    <a:pt x="1062510" y="525845"/>
                  </a:lnTo>
                  <a:lnTo>
                    <a:pt x="638466" y="949889"/>
                  </a:lnTo>
                  <a:close/>
                </a:path>
                <a:path w="3320415" h="1530350">
                  <a:moveTo>
                    <a:pt x="3064616" y="1388157"/>
                  </a:moveTo>
                  <a:lnTo>
                    <a:pt x="2545984" y="869465"/>
                  </a:lnTo>
                  <a:lnTo>
                    <a:pt x="2788735" y="626714"/>
                  </a:lnTo>
                  <a:lnTo>
                    <a:pt x="3319990" y="1157969"/>
                  </a:lnTo>
                  <a:lnTo>
                    <a:pt x="3189193" y="1274665"/>
                  </a:lnTo>
                  <a:lnTo>
                    <a:pt x="3190733" y="1274665"/>
                  </a:lnTo>
                  <a:lnTo>
                    <a:pt x="3064616" y="1388157"/>
                  </a:lnTo>
                  <a:close/>
                </a:path>
                <a:path w="3320415" h="1530350">
                  <a:moveTo>
                    <a:pt x="2906970" y="1530039"/>
                  </a:moveTo>
                  <a:lnTo>
                    <a:pt x="2374113" y="1042875"/>
                  </a:lnTo>
                  <a:lnTo>
                    <a:pt x="2481325" y="935725"/>
                  </a:lnTo>
                  <a:lnTo>
                    <a:pt x="2996816" y="1449615"/>
                  </a:lnTo>
                  <a:lnTo>
                    <a:pt x="2906970" y="1530039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4899507"/>
              <a:ext cx="770890" cy="2051685"/>
            </a:xfrm>
            <a:custGeom>
              <a:avLst/>
              <a:gdLst/>
              <a:ahLst/>
              <a:cxnLst/>
              <a:rect l="l" t="t" r="r" b="b"/>
              <a:pathLst>
                <a:path w="770890" h="2051684">
                  <a:moveTo>
                    <a:pt x="770875" y="0"/>
                  </a:moveTo>
                  <a:lnTo>
                    <a:pt x="770875" y="1128465"/>
                  </a:lnTo>
                  <a:lnTo>
                    <a:pt x="0" y="2051133"/>
                  </a:lnTo>
                  <a:lnTo>
                    <a:pt x="0" y="922667"/>
                  </a:lnTo>
                  <a:lnTo>
                    <a:pt x="770875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6343270"/>
              <a:ext cx="771525" cy="2942590"/>
            </a:xfrm>
            <a:custGeom>
              <a:avLst/>
              <a:gdLst/>
              <a:ahLst/>
              <a:cxnLst/>
              <a:rect l="l" t="t" r="r" b="b"/>
              <a:pathLst>
                <a:path w="771525" h="2942590">
                  <a:moveTo>
                    <a:pt x="770901" y="0"/>
                  </a:moveTo>
                  <a:lnTo>
                    <a:pt x="770901" y="2019297"/>
                  </a:lnTo>
                  <a:lnTo>
                    <a:pt x="0" y="2941996"/>
                  </a:lnTo>
                  <a:lnTo>
                    <a:pt x="0" y="922698"/>
                  </a:lnTo>
                  <a:lnTo>
                    <a:pt x="770901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4528729"/>
              <a:ext cx="318135" cy="1130300"/>
            </a:xfrm>
            <a:custGeom>
              <a:avLst/>
              <a:gdLst/>
              <a:ahLst/>
              <a:cxnLst/>
              <a:rect l="l" t="t" r="r" b="b"/>
              <a:pathLst>
                <a:path w="318135" h="1130300">
                  <a:moveTo>
                    <a:pt x="317691" y="0"/>
                  </a:moveTo>
                  <a:lnTo>
                    <a:pt x="317691" y="749638"/>
                  </a:lnTo>
                  <a:lnTo>
                    <a:pt x="0" y="1129885"/>
                  </a:lnTo>
                  <a:lnTo>
                    <a:pt x="0" y="380247"/>
                  </a:lnTo>
                  <a:lnTo>
                    <a:pt x="317691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019882"/>
              <a:ext cx="774700" cy="1649730"/>
            </a:xfrm>
            <a:custGeom>
              <a:avLst/>
              <a:gdLst/>
              <a:ahLst/>
              <a:cxnLst/>
              <a:rect l="l" t="t" r="r" b="b"/>
              <a:pathLst>
                <a:path w="774700" h="1649729">
                  <a:moveTo>
                    <a:pt x="0" y="1080285"/>
                  </a:moveTo>
                  <a:lnTo>
                    <a:pt x="0" y="892692"/>
                  </a:lnTo>
                  <a:lnTo>
                    <a:pt x="774106" y="0"/>
                  </a:lnTo>
                  <a:lnTo>
                    <a:pt x="774106" y="164857"/>
                  </a:lnTo>
                  <a:lnTo>
                    <a:pt x="0" y="1080285"/>
                  </a:lnTo>
                  <a:close/>
                </a:path>
                <a:path w="774700" h="1649729">
                  <a:moveTo>
                    <a:pt x="774106" y="1649347"/>
                  </a:moveTo>
                  <a:lnTo>
                    <a:pt x="0" y="1649347"/>
                  </a:lnTo>
                  <a:lnTo>
                    <a:pt x="0" y="1223937"/>
                  </a:lnTo>
                  <a:lnTo>
                    <a:pt x="774106" y="308762"/>
                  </a:lnTo>
                  <a:lnTo>
                    <a:pt x="774106" y="1649347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2403" y="7699609"/>
            <a:ext cx="5065601" cy="2587388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0" y="0"/>
            <a:ext cx="4719320" cy="2510155"/>
            <a:chOff x="0" y="0"/>
            <a:chExt cx="4719320" cy="251015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718908" cy="251012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99448" y="155211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0"/>
                  </a:moveTo>
                  <a:lnTo>
                    <a:pt x="2363367" y="1517"/>
                  </a:lnTo>
                  <a:lnTo>
                    <a:pt x="2411353" y="6011"/>
                  </a:lnTo>
                  <a:lnTo>
                    <a:pt x="2458442" y="13389"/>
                  </a:lnTo>
                  <a:lnTo>
                    <a:pt x="2504544" y="23563"/>
                  </a:lnTo>
                  <a:lnTo>
                    <a:pt x="2549568" y="36440"/>
                  </a:lnTo>
                  <a:lnTo>
                    <a:pt x="2593425" y="51932"/>
                  </a:lnTo>
                  <a:lnTo>
                    <a:pt x="2636023" y="69947"/>
                  </a:lnTo>
                  <a:lnTo>
                    <a:pt x="2677272" y="90396"/>
                  </a:lnTo>
                  <a:lnTo>
                    <a:pt x="2717082" y="113187"/>
                  </a:lnTo>
                  <a:lnTo>
                    <a:pt x="2755363" y="138231"/>
                  </a:lnTo>
                  <a:lnTo>
                    <a:pt x="2792024" y="165437"/>
                  </a:lnTo>
                  <a:lnTo>
                    <a:pt x="2826975" y="194715"/>
                  </a:lnTo>
                  <a:lnTo>
                    <a:pt x="2860125" y="225974"/>
                  </a:lnTo>
                  <a:lnTo>
                    <a:pt x="2891384" y="259124"/>
                  </a:lnTo>
                  <a:lnTo>
                    <a:pt x="2920662" y="294075"/>
                  </a:lnTo>
                  <a:lnTo>
                    <a:pt x="2947868" y="330736"/>
                  </a:lnTo>
                  <a:lnTo>
                    <a:pt x="2972912" y="369016"/>
                  </a:lnTo>
                  <a:lnTo>
                    <a:pt x="2995703" y="408827"/>
                  </a:lnTo>
                  <a:lnTo>
                    <a:pt x="3016152" y="450076"/>
                  </a:lnTo>
                  <a:lnTo>
                    <a:pt x="3034167" y="492674"/>
                  </a:lnTo>
                  <a:lnTo>
                    <a:pt x="3049659" y="536530"/>
                  </a:lnTo>
                  <a:lnTo>
                    <a:pt x="3062536" y="581555"/>
                  </a:lnTo>
                  <a:lnTo>
                    <a:pt x="3072709" y="627657"/>
                  </a:lnTo>
                  <a:lnTo>
                    <a:pt x="3080088" y="674746"/>
                  </a:lnTo>
                  <a:lnTo>
                    <a:pt x="3084581" y="722732"/>
                  </a:lnTo>
                  <a:lnTo>
                    <a:pt x="3086099" y="771524"/>
                  </a:lnTo>
                  <a:lnTo>
                    <a:pt x="3084581" y="820317"/>
                  </a:lnTo>
                  <a:lnTo>
                    <a:pt x="3080088" y="868303"/>
                  </a:lnTo>
                  <a:lnTo>
                    <a:pt x="3072709" y="915392"/>
                  </a:lnTo>
                  <a:lnTo>
                    <a:pt x="3062536" y="961494"/>
                  </a:lnTo>
                  <a:lnTo>
                    <a:pt x="3049659" y="1006518"/>
                  </a:lnTo>
                  <a:lnTo>
                    <a:pt x="3034167" y="1050375"/>
                  </a:lnTo>
                  <a:lnTo>
                    <a:pt x="3016152" y="1092973"/>
                  </a:lnTo>
                  <a:lnTo>
                    <a:pt x="2995703" y="1134222"/>
                  </a:lnTo>
                  <a:lnTo>
                    <a:pt x="2972912" y="1174032"/>
                  </a:lnTo>
                  <a:lnTo>
                    <a:pt x="2947868" y="1212313"/>
                  </a:lnTo>
                  <a:lnTo>
                    <a:pt x="2920662" y="1248974"/>
                  </a:lnTo>
                  <a:lnTo>
                    <a:pt x="2891384" y="1283925"/>
                  </a:lnTo>
                  <a:lnTo>
                    <a:pt x="2860125" y="1317075"/>
                  </a:lnTo>
                  <a:lnTo>
                    <a:pt x="2826975" y="1348334"/>
                  </a:lnTo>
                  <a:lnTo>
                    <a:pt x="2792024" y="1377612"/>
                  </a:lnTo>
                  <a:lnTo>
                    <a:pt x="2755363" y="1404818"/>
                  </a:lnTo>
                  <a:lnTo>
                    <a:pt x="2717082" y="1429862"/>
                  </a:lnTo>
                  <a:lnTo>
                    <a:pt x="2677272" y="1452653"/>
                  </a:lnTo>
                  <a:lnTo>
                    <a:pt x="2636023" y="1473102"/>
                  </a:lnTo>
                  <a:lnTo>
                    <a:pt x="2593425" y="1491117"/>
                  </a:lnTo>
                  <a:lnTo>
                    <a:pt x="2549568" y="1506609"/>
                  </a:lnTo>
                  <a:lnTo>
                    <a:pt x="2504544" y="1519486"/>
                  </a:lnTo>
                  <a:lnTo>
                    <a:pt x="2458442" y="1529660"/>
                  </a:lnTo>
                  <a:lnTo>
                    <a:pt x="2411353" y="1537038"/>
                  </a:lnTo>
                  <a:lnTo>
                    <a:pt x="2363367" y="1541532"/>
                  </a:lnTo>
                  <a:lnTo>
                    <a:pt x="2314574" y="1543049"/>
                  </a:lnTo>
                  <a:lnTo>
                    <a:pt x="771524" y="1543049"/>
                  </a:ln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6"/>
                  </a:lnTo>
                  <a:lnTo>
                    <a:pt x="536530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6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2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8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4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0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6"/>
                  </a:lnTo>
                  <a:lnTo>
                    <a:pt x="138231" y="330736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6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0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4" y="0"/>
                  </a:lnTo>
                  <a:lnTo>
                    <a:pt x="23145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70191" y="635317"/>
            <a:ext cx="214503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IN" sz="2550" dirty="0" err="1">
                <a:latin typeface="Arial Black"/>
                <a:cs typeface="Arial Black"/>
              </a:rPr>
              <a:t>Infiniy</a:t>
            </a:r>
            <a:r>
              <a:rPr lang="en-IN" sz="2550" dirty="0">
                <a:latin typeface="Arial Black"/>
                <a:cs typeface="Arial Black"/>
              </a:rPr>
              <a:t> Loop</a:t>
            </a:r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8301A049-827A-4644-BD6A-BDE7FC0FE8BD}"/>
              </a:ext>
            </a:extLst>
          </p:cNvPr>
          <p:cNvSpPr/>
          <p:nvPr/>
        </p:nvSpPr>
        <p:spPr>
          <a:xfrm>
            <a:off x="2835201" y="3397585"/>
            <a:ext cx="2778746" cy="630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IMPACT</a:t>
            </a:r>
            <a:endParaRPr lang="en-US" sz="32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6C9CCF6D-0F4E-4FAE-86AC-3863457A9561}"/>
              </a:ext>
            </a:extLst>
          </p:cNvPr>
          <p:cNvSpPr/>
          <p:nvPr/>
        </p:nvSpPr>
        <p:spPr>
          <a:xfrm>
            <a:off x="2515703" y="4217893"/>
            <a:ext cx="6120289" cy="379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Doctors: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Enable faster, AI-driven decisions.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Hospitals: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Reduce readmissions, avoid penalties.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Patients: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Ensure safer recovery, fewer complications.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Care Model: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Shift to proactive, predictive care.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Healthcare: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Improve efficiency, optimize resources.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C7787E80-E45F-4AD2-96B3-3B7C33427B4B}"/>
              </a:ext>
            </a:extLst>
          </p:cNvPr>
          <p:cNvSpPr/>
          <p:nvPr/>
        </p:nvSpPr>
        <p:spPr>
          <a:xfrm>
            <a:off x="9829800" y="3393827"/>
            <a:ext cx="2778746" cy="630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BENEFITS</a:t>
            </a:r>
            <a:endParaRPr lang="en-US" sz="32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BF0E4B4D-D60F-467F-9E33-6C74C7614970}"/>
              </a:ext>
            </a:extLst>
          </p:cNvPr>
          <p:cNvSpPr/>
          <p:nvPr/>
        </p:nvSpPr>
        <p:spPr>
          <a:xfrm>
            <a:off x="9424511" y="4147125"/>
            <a:ext cx="6120289" cy="4581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Cost Savings: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Save $15K–$26K per readmission.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Revenue Growth: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Reduce penalties, boost revenue.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Resource Optimization: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Optimize beds, staff, resources.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Scalability: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Deploy across multi-hospital systems.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Decision Support: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Real-time clinical guidance.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Quality Care:</a:t>
            </a:r>
            <a:r>
              <a:rPr lang="en-US" sz="24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Enhance patient outcomes, improve care.</a:t>
            </a:r>
            <a:endParaRPr lang="en-US" sz="2400" dirty="0">
              <a:solidFill>
                <a:srgbClr val="15213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15" dirty="0"/>
              <a:t>RESEARCH</a:t>
            </a:r>
            <a:r>
              <a:rPr spc="-495" dirty="0"/>
              <a:t> </a:t>
            </a:r>
            <a:r>
              <a:rPr spc="-295" dirty="0"/>
              <a:t>AND</a:t>
            </a:r>
            <a:r>
              <a:rPr spc="-490" dirty="0"/>
              <a:t> </a:t>
            </a:r>
            <a:r>
              <a:rPr spc="-545" dirty="0"/>
              <a:t>REFERENCES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4528729"/>
            <a:ext cx="5168265" cy="5758815"/>
            <a:chOff x="0" y="4528729"/>
            <a:chExt cx="5168265" cy="5758815"/>
          </a:xfrm>
        </p:grpSpPr>
        <p:sp>
          <p:nvSpPr>
            <p:cNvPr id="5" name="object 5"/>
            <p:cNvSpPr/>
            <p:nvPr/>
          </p:nvSpPr>
          <p:spPr>
            <a:xfrm>
              <a:off x="0" y="8984538"/>
              <a:ext cx="5168265" cy="1303020"/>
            </a:xfrm>
            <a:custGeom>
              <a:avLst/>
              <a:gdLst/>
              <a:ahLst/>
              <a:cxnLst/>
              <a:rect l="l" t="t" r="r" b="b"/>
              <a:pathLst>
                <a:path w="5168265" h="1303020">
                  <a:moveTo>
                    <a:pt x="0" y="708156"/>
                  </a:moveTo>
                  <a:lnTo>
                    <a:pt x="0" y="541760"/>
                  </a:lnTo>
                  <a:lnTo>
                    <a:pt x="469792" y="0"/>
                  </a:lnTo>
                  <a:lnTo>
                    <a:pt x="469551" y="0"/>
                  </a:lnTo>
                  <a:lnTo>
                    <a:pt x="546855" y="61465"/>
                  </a:lnTo>
                  <a:lnTo>
                    <a:pt x="0" y="708156"/>
                  </a:lnTo>
                  <a:close/>
                </a:path>
                <a:path w="5168265" h="1303020">
                  <a:moveTo>
                    <a:pt x="1691584" y="802402"/>
                  </a:moveTo>
                  <a:lnTo>
                    <a:pt x="1499014" y="802402"/>
                  </a:lnTo>
                  <a:lnTo>
                    <a:pt x="1506896" y="799261"/>
                  </a:lnTo>
                  <a:lnTo>
                    <a:pt x="1514778" y="794519"/>
                  </a:lnTo>
                  <a:lnTo>
                    <a:pt x="2262058" y="47301"/>
                  </a:lnTo>
                  <a:lnTo>
                    <a:pt x="2326656" y="105618"/>
                  </a:lnTo>
                  <a:lnTo>
                    <a:pt x="1691584" y="802402"/>
                  </a:lnTo>
                  <a:close/>
                </a:path>
                <a:path w="5168265" h="1303020">
                  <a:moveTo>
                    <a:pt x="1235813" y="1302461"/>
                  </a:moveTo>
                  <a:lnTo>
                    <a:pt x="0" y="1302461"/>
                  </a:lnTo>
                  <a:lnTo>
                    <a:pt x="0" y="852045"/>
                  </a:lnTo>
                  <a:lnTo>
                    <a:pt x="619336" y="119843"/>
                  </a:lnTo>
                  <a:lnTo>
                    <a:pt x="1459602" y="794519"/>
                  </a:lnTo>
                  <a:lnTo>
                    <a:pt x="1465945" y="799261"/>
                  </a:lnTo>
                  <a:lnTo>
                    <a:pt x="1473827" y="802402"/>
                  </a:lnTo>
                  <a:lnTo>
                    <a:pt x="1691584" y="802402"/>
                  </a:lnTo>
                  <a:lnTo>
                    <a:pt x="1235813" y="1302461"/>
                  </a:lnTo>
                  <a:close/>
                </a:path>
                <a:path w="5168265" h="1303020">
                  <a:moveTo>
                    <a:pt x="5167665" y="1302461"/>
                  </a:moveTo>
                  <a:lnTo>
                    <a:pt x="4224917" y="1302461"/>
                  </a:lnTo>
                  <a:lnTo>
                    <a:pt x="4697690" y="849696"/>
                  </a:lnTo>
                  <a:lnTo>
                    <a:pt x="5167665" y="1302461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5718" y="9156355"/>
              <a:ext cx="3265804" cy="1130935"/>
            </a:xfrm>
            <a:custGeom>
              <a:avLst/>
              <a:gdLst/>
              <a:ahLst/>
              <a:cxnLst/>
              <a:rect l="l" t="t" r="r" b="b"/>
              <a:pathLst>
                <a:path w="3265804" h="1130934">
                  <a:moveTo>
                    <a:pt x="2724761" y="1130643"/>
                  </a:moveTo>
                  <a:lnTo>
                    <a:pt x="2498146" y="1130643"/>
                  </a:lnTo>
                  <a:lnTo>
                    <a:pt x="2568927" y="1067313"/>
                  </a:lnTo>
                  <a:lnTo>
                    <a:pt x="2579950" y="1059431"/>
                  </a:lnTo>
                  <a:lnTo>
                    <a:pt x="2586293" y="1051548"/>
                  </a:lnTo>
                  <a:lnTo>
                    <a:pt x="3172724" y="524973"/>
                  </a:lnTo>
                  <a:lnTo>
                    <a:pt x="3265711" y="613280"/>
                  </a:lnTo>
                  <a:lnTo>
                    <a:pt x="2724761" y="1130643"/>
                  </a:lnTo>
                  <a:close/>
                </a:path>
                <a:path w="3265804" h="1130934">
                  <a:moveTo>
                    <a:pt x="2279807" y="1130643"/>
                  </a:moveTo>
                  <a:lnTo>
                    <a:pt x="0" y="1130643"/>
                  </a:lnTo>
                  <a:lnTo>
                    <a:pt x="1033479" y="0"/>
                  </a:lnTo>
                  <a:lnTo>
                    <a:pt x="2279807" y="1130643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6383" y="8728299"/>
              <a:ext cx="3320415" cy="1530350"/>
            </a:xfrm>
            <a:custGeom>
              <a:avLst/>
              <a:gdLst/>
              <a:ahLst/>
              <a:cxnLst/>
              <a:rect l="l" t="t" r="r" b="b"/>
              <a:pathLst>
                <a:path w="3320415" h="1530350">
                  <a:moveTo>
                    <a:pt x="638466" y="949889"/>
                  </a:moveTo>
                  <a:lnTo>
                    <a:pt x="0" y="437539"/>
                  </a:lnTo>
                  <a:lnTo>
                    <a:pt x="398473" y="0"/>
                  </a:lnTo>
                  <a:lnTo>
                    <a:pt x="405233" y="0"/>
                  </a:lnTo>
                  <a:lnTo>
                    <a:pt x="1062510" y="525845"/>
                  </a:lnTo>
                  <a:lnTo>
                    <a:pt x="638466" y="949889"/>
                  </a:lnTo>
                  <a:close/>
                </a:path>
                <a:path w="3320415" h="1530350">
                  <a:moveTo>
                    <a:pt x="3064616" y="1388157"/>
                  </a:moveTo>
                  <a:lnTo>
                    <a:pt x="2545984" y="869465"/>
                  </a:lnTo>
                  <a:lnTo>
                    <a:pt x="2788735" y="626714"/>
                  </a:lnTo>
                  <a:lnTo>
                    <a:pt x="3319990" y="1157969"/>
                  </a:lnTo>
                  <a:lnTo>
                    <a:pt x="3189193" y="1274664"/>
                  </a:lnTo>
                  <a:lnTo>
                    <a:pt x="3190733" y="1274664"/>
                  </a:lnTo>
                  <a:lnTo>
                    <a:pt x="3064616" y="1388157"/>
                  </a:lnTo>
                  <a:close/>
                </a:path>
                <a:path w="3320415" h="1530350">
                  <a:moveTo>
                    <a:pt x="2906970" y="1530039"/>
                  </a:moveTo>
                  <a:lnTo>
                    <a:pt x="2374113" y="1042875"/>
                  </a:lnTo>
                  <a:lnTo>
                    <a:pt x="2481325" y="935725"/>
                  </a:lnTo>
                  <a:lnTo>
                    <a:pt x="2996816" y="1449615"/>
                  </a:lnTo>
                  <a:lnTo>
                    <a:pt x="2906970" y="1530039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99636"/>
              <a:ext cx="770890" cy="2051685"/>
            </a:xfrm>
            <a:custGeom>
              <a:avLst/>
              <a:gdLst/>
              <a:ahLst/>
              <a:cxnLst/>
              <a:rect l="l" t="t" r="r" b="b"/>
              <a:pathLst>
                <a:path w="770890" h="2051684">
                  <a:moveTo>
                    <a:pt x="770894" y="0"/>
                  </a:moveTo>
                  <a:lnTo>
                    <a:pt x="770894" y="1128465"/>
                  </a:lnTo>
                  <a:lnTo>
                    <a:pt x="0" y="2051155"/>
                  </a:lnTo>
                  <a:lnTo>
                    <a:pt x="0" y="922689"/>
                  </a:lnTo>
                  <a:lnTo>
                    <a:pt x="770894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6343398"/>
              <a:ext cx="770890" cy="2941955"/>
            </a:xfrm>
            <a:custGeom>
              <a:avLst/>
              <a:gdLst/>
              <a:ahLst/>
              <a:cxnLst/>
              <a:rect l="l" t="t" r="r" b="b"/>
              <a:pathLst>
                <a:path w="770890" h="2941954">
                  <a:moveTo>
                    <a:pt x="770867" y="0"/>
                  </a:moveTo>
                  <a:lnTo>
                    <a:pt x="770867" y="2019297"/>
                  </a:lnTo>
                  <a:lnTo>
                    <a:pt x="0" y="2941956"/>
                  </a:lnTo>
                  <a:lnTo>
                    <a:pt x="0" y="922658"/>
                  </a:lnTo>
                  <a:lnTo>
                    <a:pt x="770867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528763"/>
              <a:ext cx="318135" cy="1130300"/>
            </a:xfrm>
            <a:custGeom>
              <a:avLst/>
              <a:gdLst/>
              <a:ahLst/>
              <a:cxnLst/>
              <a:rect l="l" t="t" r="r" b="b"/>
              <a:pathLst>
                <a:path w="318135" h="1130300">
                  <a:moveTo>
                    <a:pt x="317739" y="0"/>
                  </a:moveTo>
                  <a:lnTo>
                    <a:pt x="317739" y="749638"/>
                  </a:lnTo>
                  <a:lnTo>
                    <a:pt x="0" y="1129943"/>
                  </a:lnTo>
                  <a:lnTo>
                    <a:pt x="0" y="380305"/>
                  </a:lnTo>
                  <a:lnTo>
                    <a:pt x="317739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6019890"/>
              <a:ext cx="774065" cy="1649730"/>
            </a:xfrm>
            <a:custGeom>
              <a:avLst/>
              <a:gdLst/>
              <a:ahLst/>
              <a:cxnLst/>
              <a:rect l="l" t="t" r="r" b="b"/>
              <a:pathLst>
                <a:path w="774065" h="1649729">
                  <a:moveTo>
                    <a:pt x="0" y="1080217"/>
                  </a:moveTo>
                  <a:lnTo>
                    <a:pt x="0" y="892625"/>
                  </a:lnTo>
                  <a:lnTo>
                    <a:pt x="774048" y="0"/>
                  </a:lnTo>
                  <a:lnTo>
                    <a:pt x="774048" y="164857"/>
                  </a:lnTo>
                  <a:lnTo>
                    <a:pt x="0" y="1080217"/>
                  </a:lnTo>
                  <a:close/>
                </a:path>
                <a:path w="774065" h="1649729">
                  <a:moveTo>
                    <a:pt x="774048" y="1649347"/>
                  </a:moveTo>
                  <a:lnTo>
                    <a:pt x="0" y="1649347"/>
                  </a:lnTo>
                  <a:lnTo>
                    <a:pt x="0" y="1223869"/>
                  </a:lnTo>
                  <a:lnTo>
                    <a:pt x="774048" y="308762"/>
                  </a:lnTo>
                  <a:lnTo>
                    <a:pt x="774048" y="1649347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8984529"/>
              <a:ext cx="5168265" cy="1303020"/>
            </a:xfrm>
            <a:custGeom>
              <a:avLst/>
              <a:gdLst/>
              <a:ahLst/>
              <a:cxnLst/>
              <a:rect l="l" t="t" r="r" b="b"/>
              <a:pathLst>
                <a:path w="5168265" h="1303020">
                  <a:moveTo>
                    <a:pt x="0" y="708156"/>
                  </a:moveTo>
                  <a:lnTo>
                    <a:pt x="0" y="541760"/>
                  </a:lnTo>
                  <a:lnTo>
                    <a:pt x="469792" y="0"/>
                  </a:lnTo>
                  <a:lnTo>
                    <a:pt x="469551" y="0"/>
                  </a:lnTo>
                  <a:lnTo>
                    <a:pt x="546855" y="61465"/>
                  </a:lnTo>
                  <a:lnTo>
                    <a:pt x="0" y="708156"/>
                  </a:lnTo>
                  <a:close/>
                </a:path>
                <a:path w="5168265" h="1303020">
                  <a:moveTo>
                    <a:pt x="1691584" y="802402"/>
                  </a:moveTo>
                  <a:lnTo>
                    <a:pt x="1499014" y="802402"/>
                  </a:lnTo>
                  <a:lnTo>
                    <a:pt x="1506896" y="799261"/>
                  </a:lnTo>
                  <a:lnTo>
                    <a:pt x="1514778" y="794519"/>
                  </a:lnTo>
                  <a:lnTo>
                    <a:pt x="2262058" y="47301"/>
                  </a:lnTo>
                  <a:lnTo>
                    <a:pt x="2326656" y="105618"/>
                  </a:lnTo>
                  <a:lnTo>
                    <a:pt x="1691584" y="802402"/>
                  </a:lnTo>
                  <a:close/>
                </a:path>
                <a:path w="5168265" h="1303020">
                  <a:moveTo>
                    <a:pt x="1235805" y="1302469"/>
                  </a:moveTo>
                  <a:lnTo>
                    <a:pt x="0" y="1302469"/>
                  </a:lnTo>
                  <a:lnTo>
                    <a:pt x="0" y="852045"/>
                  </a:lnTo>
                  <a:lnTo>
                    <a:pt x="619336" y="119843"/>
                  </a:lnTo>
                  <a:lnTo>
                    <a:pt x="1459602" y="794519"/>
                  </a:lnTo>
                  <a:lnTo>
                    <a:pt x="1465945" y="799261"/>
                  </a:lnTo>
                  <a:lnTo>
                    <a:pt x="1473827" y="802402"/>
                  </a:lnTo>
                  <a:lnTo>
                    <a:pt x="1691584" y="802402"/>
                  </a:lnTo>
                  <a:lnTo>
                    <a:pt x="1235805" y="1302469"/>
                  </a:lnTo>
                  <a:close/>
                </a:path>
                <a:path w="5168265" h="1303020">
                  <a:moveTo>
                    <a:pt x="5167673" y="1302469"/>
                  </a:moveTo>
                  <a:lnTo>
                    <a:pt x="4224908" y="1302469"/>
                  </a:lnTo>
                  <a:lnTo>
                    <a:pt x="4697690" y="849696"/>
                  </a:lnTo>
                  <a:lnTo>
                    <a:pt x="5167673" y="1302469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65711" y="9156347"/>
              <a:ext cx="3265804" cy="1130935"/>
            </a:xfrm>
            <a:custGeom>
              <a:avLst/>
              <a:gdLst/>
              <a:ahLst/>
              <a:cxnLst/>
              <a:rect l="l" t="t" r="r" b="b"/>
              <a:pathLst>
                <a:path w="3265804" h="1130934">
                  <a:moveTo>
                    <a:pt x="2724760" y="1130652"/>
                  </a:moveTo>
                  <a:lnTo>
                    <a:pt x="2498145" y="1130652"/>
                  </a:lnTo>
                  <a:lnTo>
                    <a:pt x="2568935" y="1067313"/>
                  </a:lnTo>
                  <a:lnTo>
                    <a:pt x="2579958" y="1059431"/>
                  </a:lnTo>
                  <a:lnTo>
                    <a:pt x="2586301" y="1051548"/>
                  </a:lnTo>
                  <a:lnTo>
                    <a:pt x="3172732" y="524973"/>
                  </a:lnTo>
                  <a:lnTo>
                    <a:pt x="3265719" y="613280"/>
                  </a:lnTo>
                  <a:lnTo>
                    <a:pt x="2724760" y="1130652"/>
                  </a:lnTo>
                  <a:close/>
                </a:path>
                <a:path w="3265804" h="1130934">
                  <a:moveTo>
                    <a:pt x="2279823" y="1130652"/>
                  </a:moveTo>
                  <a:lnTo>
                    <a:pt x="0" y="1130652"/>
                  </a:lnTo>
                  <a:lnTo>
                    <a:pt x="1033486" y="0"/>
                  </a:lnTo>
                  <a:lnTo>
                    <a:pt x="2279823" y="1130652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6383" y="8728291"/>
              <a:ext cx="3320415" cy="1530350"/>
            </a:xfrm>
            <a:custGeom>
              <a:avLst/>
              <a:gdLst/>
              <a:ahLst/>
              <a:cxnLst/>
              <a:rect l="l" t="t" r="r" b="b"/>
              <a:pathLst>
                <a:path w="3320415" h="1530350">
                  <a:moveTo>
                    <a:pt x="638466" y="949889"/>
                  </a:moveTo>
                  <a:lnTo>
                    <a:pt x="0" y="437539"/>
                  </a:lnTo>
                  <a:lnTo>
                    <a:pt x="398473" y="0"/>
                  </a:lnTo>
                  <a:lnTo>
                    <a:pt x="405233" y="0"/>
                  </a:lnTo>
                  <a:lnTo>
                    <a:pt x="1062510" y="525845"/>
                  </a:lnTo>
                  <a:lnTo>
                    <a:pt x="638466" y="949889"/>
                  </a:lnTo>
                  <a:close/>
                </a:path>
                <a:path w="3320415" h="1530350">
                  <a:moveTo>
                    <a:pt x="3064616" y="1388157"/>
                  </a:moveTo>
                  <a:lnTo>
                    <a:pt x="2545984" y="869465"/>
                  </a:lnTo>
                  <a:lnTo>
                    <a:pt x="2788735" y="626714"/>
                  </a:lnTo>
                  <a:lnTo>
                    <a:pt x="3319990" y="1157969"/>
                  </a:lnTo>
                  <a:lnTo>
                    <a:pt x="3189193" y="1274665"/>
                  </a:lnTo>
                  <a:lnTo>
                    <a:pt x="3190733" y="1274665"/>
                  </a:lnTo>
                  <a:lnTo>
                    <a:pt x="3064616" y="1388157"/>
                  </a:lnTo>
                  <a:close/>
                </a:path>
                <a:path w="3320415" h="1530350">
                  <a:moveTo>
                    <a:pt x="2906970" y="1530039"/>
                  </a:moveTo>
                  <a:lnTo>
                    <a:pt x="2374113" y="1042875"/>
                  </a:lnTo>
                  <a:lnTo>
                    <a:pt x="2481325" y="935725"/>
                  </a:lnTo>
                  <a:lnTo>
                    <a:pt x="2996816" y="1449615"/>
                  </a:lnTo>
                  <a:lnTo>
                    <a:pt x="2906970" y="1530039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4899507"/>
              <a:ext cx="770890" cy="2051685"/>
            </a:xfrm>
            <a:custGeom>
              <a:avLst/>
              <a:gdLst/>
              <a:ahLst/>
              <a:cxnLst/>
              <a:rect l="l" t="t" r="r" b="b"/>
              <a:pathLst>
                <a:path w="770890" h="2051684">
                  <a:moveTo>
                    <a:pt x="770875" y="0"/>
                  </a:moveTo>
                  <a:lnTo>
                    <a:pt x="770875" y="1128465"/>
                  </a:lnTo>
                  <a:lnTo>
                    <a:pt x="0" y="2051133"/>
                  </a:lnTo>
                  <a:lnTo>
                    <a:pt x="0" y="922667"/>
                  </a:lnTo>
                  <a:lnTo>
                    <a:pt x="770875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6343268"/>
              <a:ext cx="771525" cy="2942590"/>
            </a:xfrm>
            <a:custGeom>
              <a:avLst/>
              <a:gdLst/>
              <a:ahLst/>
              <a:cxnLst/>
              <a:rect l="l" t="t" r="r" b="b"/>
              <a:pathLst>
                <a:path w="771525" h="2942590">
                  <a:moveTo>
                    <a:pt x="770901" y="0"/>
                  </a:moveTo>
                  <a:lnTo>
                    <a:pt x="770901" y="2019297"/>
                  </a:lnTo>
                  <a:lnTo>
                    <a:pt x="0" y="2941996"/>
                  </a:lnTo>
                  <a:lnTo>
                    <a:pt x="0" y="922699"/>
                  </a:lnTo>
                  <a:lnTo>
                    <a:pt x="770901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4528729"/>
              <a:ext cx="318135" cy="1130300"/>
            </a:xfrm>
            <a:custGeom>
              <a:avLst/>
              <a:gdLst/>
              <a:ahLst/>
              <a:cxnLst/>
              <a:rect l="l" t="t" r="r" b="b"/>
              <a:pathLst>
                <a:path w="318135" h="1130300">
                  <a:moveTo>
                    <a:pt x="317691" y="0"/>
                  </a:moveTo>
                  <a:lnTo>
                    <a:pt x="317691" y="749638"/>
                  </a:lnTo>
                  <a:lnTo>
                    <a:pt x="0" y="1129885"/>
                  </a:lnTo>
                  <a:lnTo>
                    <a:pt x="0" y="380247"/>
                  </a:lnTo>
                  <a:lnTo>
                    <a:pt x="317691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6019881"/>
              <a:ext cx="774700" cy="1649730"/>
            </a:xfrm>
            <a:custGeom>
              <a:avLst/>
              <a:gdLst/>
              <a:ahLst/>
              <a:cxnLst/>
              <a:rect l="l" t="t" r="r" b="b"/>
              <a:pathLst>
                <a:path w="774700" h="1649729">
                  <a:moveTo>
                    <a:pt x="0" y="1080285"/>
                  </a:moveTo>
                  <a:lnTo>
                    <a:pt x="0" y="892692"/>
                  </a:lnTo>
                  <a:lnTo>
                    <a:pt x="774106" y="0"/>
                  </a:lnTo>
                  <a:lnTo>
                    <a:pt x="774106" y="164857"/>
                  </a:lnTo>
                  <a:lnTo>
                    <a:pt x="0" y="1080285"/>
                  </a:lnTo>
                  <a:close/>
                </a:path>
                <a:path w="774700" h="1649729">
                  <a:moveTo>
                    <a:pt x="774106" y="1649347"/>
                  </a:moveTo>
                  <a:lnTo>
                    <a:pt x="0" y="1649347"/>
                  </a:lnTo>
                  <a:lnTo>
                    <a:pt x="0" y="1223938"/>
                  </a:lnTo>
                  <a:lnTo>
                    <a:pt x="774106" y="308762"/>
                  </a:lnTo>
                  <a:lnTo>
                    <a:pt x="774106" y="1649347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3148575" y="0"/>
            <a:ext cx="5139690" cy="5709920"/>
            <a:chOff x="13148575" y="0"/>
            <a:chExt cx="5139690" cy="5709920"/>
          </a:xfrm>
        </p:grpSpPr>
        <p:sp>
          <p:nvSpPr>
            <p:cNvPr id="20" name="object 20"/>
            <p:cNvSpPr/>
            <p:nvPr/>
          </p:nvSpPr>
          <p:spPr>
            <a:xfrm>
              <a:off x="13148575" y="0"/>
              <a:ext cx="5139690" cy="1254125"/>
            </a:xfrm>
            <a:custGeom>
              <a:avLst/>
              <a:gdLst/>
              <a:ahLst/>
              <a:cxnLst/>
              <a:rect l="l" t="t" r="r" b="b"/>
              <a:pathLst>
                <a:path w="5139690" h="1254125">
                  <a:moveTo>
                    <a:pt x="5139422" y="519002"/>
                  </a:moveTo>
                  <a:lnTo>
                    <a:pt x="5139422" y="686057"/>
                  </a:lnTo>
                  <a:lnTo>
                    <a:pt x="4647218" y="1253662"/>
                  </a:lnTo>
                  <a:lnTo>
                    <a:pt x="4647459" y="1253662"/>
                  </a:lnTo>
                  <a:lnTo>
                    <a:pt x="4570154" y="1192196"/>
                  </a:lnTo>
                  <a:lnTo>
                    <a:pt x="5139422" y="519002"/>
                  </a:lnTo>
                  <a:close/>
                </a:path>
                <a:path w="5139690" h="1254125">
                  <a:moveTo>
                    <a:pt x="3425426" y="451259"/>
                  </a:moveTo>
                  <a:lnTo>
                    <a:pt x="3617996" y="451259"/>
                  </a:lnTo>
                  <a:lnTo>
                    <a:pt x="3610114" y="454400"/>
                  </a:lnTo>
                  <a:lnTo>
                    <a:pt x="3602232" y="459142"/>
                  </a:lnTo>
                  <a:lnTo>
                    <a:pt x="2854952" y="1206360"/>
                  </a:lnTo>
                  <a:lnTo>
                    <a:pt x="2790354" y="1148043"/>
                  </a:lnTo>
                  <a:lnTo>
                    <a:pt x="3425426" y="451259"/>
                  </a:lnTo>
                  <a:close/>
                </a:path>
                <a:path w="5139690" h="1254125">
                  <a:moveTo>
                    <a:pt x="3836720" y="0"/>
                  </a:moveTo>
                  <a:lnTo>
                    <a:pt x="5139422" y="0"/>
                  </a:lnTo>
                  <a:lnTo>
                    <a:pt x="5139422" y="375121"/>
                  </a:lnTo>
                  <a:lnTo>
                    <a:pt x="4497674" y="1133818"/>
                  </a:lnTo>
                  <a:lnTo>
                    <a:pt x="3657408" y="459142"/>
                  </a:lnTo>
                  <a:lnTo>
                    <a:pt x="3651065" y="454400"/>
                  </a:lnTo>
                  <a:lnTo>
                    <a:pt x="3643183" y="451259"/>
                  </a:lnTo>
                  <a:lnTo>
                    <a:pt x="3425426" y="451259"/>
                  </a:lnTo>
                  <a:lnTo>
                    <a:pt x="3836720" y="0"/>
                  </a:lnTo>
                  <a:close/>
                </a:path>
                <a:path w="5139690" h="1254125">
                  <a:moveTo>
                    <a:pt x="0" y="0"/>
                  </a:moveTo>
                  <a:lnTo>
                    <a:pt x="841137" y="0"/>
                  </a:lnTo>
                  <a:lnTo>
                    <a:pt x="419320" y="403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34156" y="0"/>
              <a:ext cx="3221355" cy="1082040"/>
            </a:xfrm>
            <a:custGeom>
              <a:avLst/>
              <a:gdLst/>
              <a:ahLst/>
              <a:cxnLst/>
              <a:rect l="l" t="t" r="r" b="b"/>
              <a:pathLst>
                <a:path w="3221355" h="1082040">
                  <a:moveTo>
                    <a:pt x="489925" y="0"/>
                  </a:moveTo>
                  <a:lnTo>
                    <a:pt x="713024" y="0"/>
                  </a:lnTo>
                  <a:lnTo>
                    <a:pt x="696783" y="14530"/>
                  </a:lnTo>
                  <a:lnTo>
                    <a:pt x="685760" y="22413"/>
                  </a:lnTo>
                  <a:lnTo>
                    <a:pt x="679417" y="30295"/>
                  </a:lnTo>
                  <a:lnTo>
                    <a:pt x="92986" y="556870"/>
                  </a:lnTo>
                  <a:lnTo>
                    <a:pt x="0" y="468564"/>
                  </a:lnTo>
                  <a:lnTo>
                    <a:pt x="489925" y="0"/>
                  </a:lnTo>
                  <a:close/>
                </a:path>
                <a:path w="3221355" h="1082040">
                  <a:moveTo>
                    <a:pt x="1039696" y="0"/>
                  </a:moveTo>
                  <a:lnTo>
                    <a:pt x="3221105" y="0"/>
                  </a:lnTo>
                  <a:lnTo>
                    <a:pt x="2232232" y="1081844"/>
                  </a:lnTo>
                  <a:lnTo>
                    <a:pt x="1039696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099212" y="0"/>
              <a:ext cx="3320415" cy="1510030"/>
            </a:xfrm>
            <a:custGeom>
              <a:avLst/>
              <a:gdLst/>
              <a:ahLst/>
              <a:cxnLst/>
              <a:rect l="l" t="t" r="r" b="b"/>
              <a:pathLst>
                <a:path w="3320415" h="1510030">
                  <a:moveTo>
                    <a:pt x="2681523" y="560011"/>
                  </a:moveTo>
                  <a:lnTo>
                    <a:pt x="3319990" y="1072361"/>
                  </a:lnTo>
                  <a:lnTo>
                    <a:pt x="2921516" y="1509900"/>
                  </a:lnTo>
                  <a:lnTo>
                    <a:pt x="2914757" y="1509900"/>
                  </a:lnTo>
                  <a:lnTo>
                    <a:pt x="2257480" y="984054"/>
                  </a:lnTo>
                  <a:lnTo>
                    <a:pt x="2681523" y="560011"/>
                  </a:lnTo>
                  <a:close/>
                </a:path>
                <a:path w="3320415" h="1510030">
                  <a:moveTo>
                    <a:pt x="255374" y="121742"/>
                  </a:moveTo>
                  <a:lnTo>
                    <a:pt x="774005" y="640435"/>
                  </a:lnTo>
                  <a:lnTo>
                    <a:pt x="531255" y="883185"/>
                  </a:lnTo>
                  <a:lnTo>
                    <a:pt x="0" y="351930"/>
                  </a:lnTo>
                  <a:lnTo>
                    <a:pt x="130797" y="235235"/>
                  </a:lnTo>
                  <a:lnTo>
                    <a:pt x="129257" y="235235"/>
                  </a:lnTo>
                  <a:lnTo>
                    <a:pt x="255374" y="121742"/>
                  </a:lnTo>
                  <a:close/>
                </a:path>
                <a:path w="3320415" h="1510030">
                  <a:moveTo>
                    <a:pt x="390522" y="0"/>
                  </a:moveTo>
                  <a:lnTo>
                    <a:pt x="435048" y="0"/>
                  </a:lnTo>
                  <a:lnTo>
                    <a:pt x="945876" y="467024"/>
                  </a:lnTo>
                  <a:lnTo>
                    <a:pt x="838665" y="574174"/>
                  </a:lnTo>
                  <a:lnTo>
                    <a:pt x="323174" y="60285"/>
                  </a:lnTo>
                  <a:lnTo>
                    <a:pt x="390522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494693" y="3260583"/>
              <a:ext cx="793750" cy="2078355"/>
            </a:xfrm>
            <a:custGeom>
              <a:avLst/>
              <a:gdLst/>
              <a:ahLst/>
              <a:cxnLst/>
              <a:rect l="l" t="t" r="r" b="b"/>
              <a:pathLst>
                <a:path w="793750" h="2078354">
                  <a:moveTo>
                    <a:pt x="0" y="2077980"/>
                  </a:moveTo>
                  <a:lnTo>
                    <a:pt x="0" y="949514"/>
                  </a:lnTo>
                  <a:lnTo>
                    <a:pt x="793306" y="0"/>
                  </a:lnTo>
                  <a:lnTo>
                    <a:pt x="793306" y="1128465"/>
                  </a:lnTo>
                  <a:lnTo>
                    <a:pt x="0" y="207798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494720" y="926021"/>
              <a:ext cx="793750" cy="2969260"/>
            </a:xfrm>
            <a:custGeom>
              <a:avLst/>
              <a:gdLst/>
              <a:ahLst/>
              <a:cxnLst/>
              <a:rect l="l" t="t" r="r" b="b"/>
              <a:pathLst>
                <a:path w="793750" h="2969260">
                  <a:moveTo>
                    <a:pt x="0" y="2968781"/>
                  </a:moveTo>
                  <a:lnTo>
                    <a:pt x="0" y="949482"/>
                  </a:lnTo>
                  <a:lnTo>
                    <a:pt x="793279" y="0"/>
                  </a:lnTo>
                  <a:lnTo>
                    <a:pt x="793279" y="2019298"/>
                  </a:lnTo>
                  <a:lnTo>
                    <a:pt x="0" y="2968781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947849" y="4552670"/>
              <a:ext cx="340360" cy="1156970"/>
            </a:xfrm>
            <a:custGeom>
              <a:avLst/>
              <a:gdLst/>
              <a:ahLst/>
              <a:cxnLst/>
              <a:rect l="l" t="t" r="r" b="b"/>
              <a:pathLst>
                <a:path w="340359" h="1156970">
                  <a:moveTo>
                    <a:pt x="0" y="1156766"/>
                  </a:moveTo>
                  <a:lnTo>
                    <a:pt x="0" y="407128"/>
                  </a:lnTo>
                  <a:lnTo>
                    <a:pt x="340150" y="0"/>
                  </a:lnTo>
                  <a:lnTo>
                    <a:pt x="340150" y="749638"/>
                  </a:lnTo>
                  <a:lnTo>
                    <a:pt x="0" y="1156766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491538" y="2568962"/>
              <a:ext cx="796925" cy="1649730"/>
            </a:xfrm>
            <a:custGeom>
              <a:avLst/>
              <a:gdLst/>
              <a:ahLst/>
              <a:cxnLst/>
              <a:rect l="l" t="t" r="r" b="b"/>
              <a:pathLst>
                <a:path w="796925" h="1649729">
                  <a:moveTo>
                    <a:pt x="796459" y="542627"/>
                  </a:moveTo>
                  <a:lnTo>
                    <a:pt x="796459" y="730877"/>
                  </a:lnTo>
                  <a:lnTo>
                    <a:pt x="0" y="1649347"/>
                  </a:lnTo>
                  <a:lnTo>
                    <a:pt x="0" y="1484490"/>
                  </a:lnTo>
                  <a:lnTo>
                    <a:pt x="796459" y="542627"/>
                  </a:lnTo>
                  <a:close/>
                </a:path>
                <a:path w="796925" h="1649729">
                  <a:moveTo>
                    <a:pt x="0" y="0"/>
                  </a:moveTo>
                  <a:lnTo>
                    <a:pt x="796459" y="0"/>
                  </a:lnTo>
                  <a:lnTo>
                    <a:pt x="796459" y="398982"/>
                  </a:lnTo>
                  <a:lnTo>
                    <a:pt x="0" y="1340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148575" y="0"/>
              <a:ext cx="5139690" cy="1254125"/>
            </a:xfrm>
            <a:custGeom>
              <a:avLst/>
              <a:gdLst/>
              <a:ahLst/>
              <a:cxnLst/>
              <a:rect l="l" t="t" r="r" b="b"/>
              <a:pathLst>
                <a:path w="5139690" h="1254125">
                  <a:moveTo>
                    <a:pt x="5139422" y="519002"/>
                  </a:moveTo>
                  <a:lnTo>
                    <a:pt x="5139422" y="686057"/>
                  </a:lnTo>
                  <a:lnTo>
                    <a:pt x="4647218" y="1253662"/>
                  </a:lnTo>
                  <a:lnTo>
                    <a:pt x="4647459" y="1253662"/>
                  </a:lnTo>
                  <a:lnTo>
                    <a:pt x="4570154" y="1192196"/>
                  </a:lnTo>
                  <a:lnTo>
                    <a:pt x="5139422" y="519002"/>
                  </a:lnTo>
                  <a:close/>
                </a:path>
                <a:path w="5139690" h="1254125">
                  <a:moveTo>
                    <a:pt x="3425426" y="451259"/>
                  </a:moveTo>
                  <a:lnTo>
                    <a:pt x="3617996" y="451259"/>
                  </a:lnTo>
                  <a:lnTo>
                    <a:pt x="3610114" y="454400"/>
                  </a:lnTo>
                  <a:lnTo>
                    <a:pt x="3602232" y="459142"/>
                  </a:lnTo>
                  <a:lnTo>
                    <a:pt x="2854952" y="1206360"/>
                  </a:lnTo>
                  <a:lnTo>
                    <a:pt x="2790354" y="1148043"/>
                  </a:lnTo>
                  <a:lnTo>
                    <a:pt x="3425426" y="451259"/>
                  </a:lnTo>
                  <a:close/>
                </a:path>
                <a:path w="5139690" h="1254125">
                  <a:moveTo>
                    <a:pt x="3836720" y="0"/>
                  </a:moveTo>
                  <a:lnTo>
                    <a:pt x="5139422" y="0"/>
                  </a:lnTo>
                  <a:lnTo>
                    <a:pt x="5139422" y="375121"/>
                  </a:lnTo>
                  <a:lnTo>
                    <a:pt x="4497674" y="1133818"/>
                  </a:lnTo>
                  <a:lnTo>
                    <a:pt x="3657408" y="459142"/>
                  </a:lnTo>
                  <a:lnTo>
                    <a:pt x="3651065" y="454400"/>
                  </a:lnTo>
                  <a:lnTo>
                    <a:pt x="3643183" y="451259"/>
                  </a:lnTo>
                  <a:lnTo>
                    <a:pt x="3425426" y="451259"/>
                  </a:lnTo>
                  <a:lnTo>
                    <a:pt x="3836720" y="0"/>
                  </a:lnTo>
                  <a:close/>
                </a:path>
                <a:path w="5139690" h="1254125">
                  <a:moveTo>
                    <a:pt x="0" y="0"/>
                  </a:moveTo>
                  <a:lnTo>
                    <a:pt x="841137" y="0"/>
                  </a:lnTo>
                  <a:lnTo>
                    <a:pt x="419320" y="403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634156" y="0"/>
              <a:ext cx="3221355" cy="1082040"/>
            </a:xfrm>
            <a:custGeom>
              <a:avLst/>
              <a:gdLst/>
              <a:ahLst/>
              <a:cxnLst/>
              <a:rect l="l" t="t" r="r" b="b"/>
              <a:pathLst>
                <a:path w="3221355" h="1082040">
                  <a:moveTo>
                    <a:pt x="489925" y="0"/>
                  </a:moveTo>
                  <a:lnTo>
                    <a:pt x="713024" y="0"/>
                  </a:lnTo>
                  <a:lnTo>
                    <a:pt x="696783" y="14530"/>
                  </a:lnTo>
                  <a:lnTo>
                    <a:pt x="685760" y="22413"/>
                  </a:lnTo>
                  <a:lnTo>
                    <a:pt x="679417" y="30295"/>
                  </a:lnTo>
                  <a:lnTo>
                    <a:pt x="92986" y="556870"/>
                  </a:lnTo>
                  <a:lnTo>
                    <a:pt x="0" y="468564"/>
                  </a:lnTo>
                  <a:lnTo>
                    <a:pt x="489925" y="0"/>
                  </a:lnTo>
                  <a:close/>
                </a:path>
                <a:path w="3221355" h="1082040">
                  <a:moveTo>
                    <a:pt x="1039696" y="0"/>
                  </a:moveTo>
                  <a:lnTo>
                    <a:pt x="3221105" y="0"/>
                  </a:lnTo>
                  <a:lnTo>
                    <a:pt x="2232232" y="1081844"/>
                  </a:lnTo>
                  <a:lnTo>
                    <a:pt x="1039696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099212" y="0"/>
              <a:ext cx="3320415" cy="1510030"/>
            </a:xfrm>
            <a:custGeom>
              <a:avLst/>
              <a:gdLst/>
              <a:ahLst/>
              <a:cxnLst/>
              <a:rect l="l" t="t" r="r" b="b"/>
              <a:pathLst>
                <a:path w="3320415" h="1510030">
                  <a:moveTo>
                    <a:pt x="2681523" y="560011"/>
                  </a:moveTo>
                  <a:lnTo>
                    <a:pt x="3319990" y="1072361"/>
                  </a:lnTo>
                  <a:lnTo>
                    <a:pt x="2921516" y="1509900"/>
                  </a:lnTo>
                  <a:lnTo>
                    <a:pt x="2914757" y="1509900"/>
                  </a:lnTo>
                  <a:lnTo>
                    <a:pt x="2257480" y="984054"/>
                  </a:lnTo>
                  <a:lnTo>
                    <a:pt x="2681523" y="560011"/>
                  </a:lnTo>
                  <a:close/>
                </a:path>
                <a:path w="3320415" h="1510030">
                  <a:moveTo>
                    <a:pt x="255374" y="121742"/>
                  </a:moveTo>
                  <a:lnTo>
                    <a:pt x="774005" y="640435"/>
                  </a:lnTo>
                  <a:lnTo>
                    <a:pt x="531255" y="883185"/>
                  </a:lnTo>
                  <a:lnTo>
                    <a:pt x="0" y="351930"/>
                  </a:lnTo>
                  <a:lnTo>
                    <a:pt x="130797" y="235235"/>
                  </a:lnTo>
                  <a:lnTo>
                    <a:pt x="129257" y="235235"/>
                  </a:lnTo>
                  <a:lnTo>
                    <a:pt x="255374" y="121742"/>
                  </a:lnTo>
                  <a:close/>
                </a:path>
                <a:path w="3320415" h="1510030">
                  <a:moveTo>
                    <a:pt x="390522" y="0"/>
                  </a:moveTo>
                  <a:lnTo>
                    <a:pt x="435048" y="0"/>
                  </a:lnTo>
                  <a:lnTo>
                    <a:pt x="945876" y="467024"/>
                  </a:lnTo>
                  <a:lnTo>
                    <a:pt x="838665" y="574174"/>
                  </a:lnTo>
                  <a:lnTo>
                    <a:pt x="323174" y="60285"/>
                  </a:lnTo>
                  <a:lnTo>
                    <a:pt x="390522" y="0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494693" y="3260583"/>
              <a:ext cx="793750" cy="2078355"/>
            </a:xfrm>
            <a:custGeom>
              <a:avLst/>
              <a:gdLst/>
              <a:ahLst/>
              <a:cxnLst/>
              <a:rect l="l" t="t" r="r" b="b"/>
              <a:pathLst>
                <a:path w="793750" h="2078354">
                  <a:moveTo>
                    <a:pt x="0" y="2077980"/>
                  </a:moveTo>
                  <a:lnTo>
                    <a:pt x="0" y="949514"/>
                  </a:lnTo>
                  <a:lnTo>
                    <a:pt x="793306" y="0"/>
                  </a:lnTo>
                  <a:lnTo>
                    <a:pt x="793306" y="1128465"/>
                  </a:lnTo>
                  <a:lnTo>
                    <a:pt x="0" y="2077980"/>
                  </a:lnTo>
                  <a:close/>
                </a:path>
              </a:pathLst>
            </a:custGeom>
            <a:solidFill>
              <a:srgbClr val="93C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494720" y="926021"/>
              <a:ext cx="793750" cy="2969260"/>
            </a:xfrm>
            <a:custGeom>
              <a:avLst/>
              <a:gdLst/>
              <a:ahLst/>
              <a:cxnLst/>
              <a:rect l="l" t="t" r="r" b="b"/>
              <a:pathLst>
                <a:path w="793750" h="2969260">
                  <a:moveTo>
                    <a:pt x="0" y="2968780"/>
                  </a:moveTo>
                  <a:lnTo>
                    <a:pt x="0" y="949482"/>
                  </a:lnTo>
                  <a:lnTo>
                    <a:pt x="793279" y="0"/>
                  </a:lnTo>
                  <a:lnTo>
                    <a:pt x="793279" y="2019298"/>
                  </a:lnTo>
                  <a:lnTo>
                    <a:pt x="0" y="296878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947848" y="4552668"/>
              <a:ext cx="340360" cy="1156970"/>
            </a:xfrm>
            <a:custGeom>
              <a:avLst/>
              <a:gdLst/>
              <a:ahLst/>
              <a:cxnLst/>
              <a:rect l="l" t="t" r="r" b="b"/>
              <a:pathLst>
                <a:path w="340359" h="1156970">
                  <a:moveTo>
                    <a:pt x="0" y="1156768"/>
                  </a:moveTo>
                  <a:lnTo>
                    <a:pt x="0" y="407130"/>
                  </a:lnTo>
                  <a:lnTo>
                    <a:pt x="340151" y="0"/>
                  </a:lnTo>
                  <a:lnTo>
                    <a:pt x="340151" y="749638"/>
                  </a:lnTo>
                  <a:lnTo>
                    <a:pt x="0" y="1156768"/>
                  </a:lnTo>
                  <a:close/>
                </a:path>
              </a:pathLst>
            </a:custGeom>
            <a:solidFill>
              <a:srgbClr val="3A73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491538" y="2568962"/>
              <a:ext cx="796925" cy="1649730"/>
            </a:xfrm>
            <a:custGeom>
              <a:avLst/>
              <a:gdLst/>
              <a:ahLst/>
              <a:cxnLst/>
              <a:rect l="l" t="t" r="r" b="b"/>
              <a:pathLst>
                <a:path w="796925" h="1649729">
                  <a:moveTo>
                    <a:pt x="796459" y="542627"/>
                  </a:moveTo>
                  <a:lnTo>
                    <a:pt x="796459" y="730877"/>
                  </a:lnTo>
                  <a:lnTo>
                    <a:pt x="0" y="1649347"/>
                  </a:lnTo>
                  <a:lnTo>
                    <a:pt x="0" y="1484490"/>
                  </a:lnTo>
                  <a:lnTo>
                    <a:pt x="796459" y="542627"/>
                  </a:lnTo>
                  <a:close/>
                </a:path>
                <a:path w="796925" h="1649729">
                  <a:moveTo>
                    <a:pt x="0" y="0"/>
                  </a:moveTo>
                  <a:lnTo>
                    <a:pt x="796459" y="0"/>
                  </a:lnTo>
                  <a:lnTo>
                    <a:pt x="796459" y="398982"/>
                  </a:lnTo>
                  <a:lnTo>
                    <a:pt x="0" y="1340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1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2403" y="7699609"/>
            <a:ext cx="5065601" cy="2587388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0" y="0"/>
            <a:ext cx="4719320" cy="2510155"/>
            <a:chOff x="0" y="0"/>
            <a:chExt cx="4719320" cy="2510155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718908" cy="251012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99448" y="155211"/>
              <a:ext cx="3086100" cy="1543050"/>
            </a:xfrm>
            <a:custGeom>
              <a:avLst/>
              <a:gdLst/>
              <a:ahLst/>
              <a:cxnLst/>
              <a:rect l="l" t="t" r="r" b="b"/>
              <a:pathLst>
                <a:path w="3086100" h="1543050">
                  <a:moveTo>
                    <a:pt x="2314574" y="0"/>
                  </a:moveTo>
                  <a:lnTo>
                    <a:pt x="2363367" y="1517"/>
                  </a:lnTo>
                  <a:lnTo>
                    <a:pt x="2411353" y="6011"/>
                  </a:lnTo>
                  <a:lnTo>
                    <a:pt x="2458442" y="13389"/>
                  </a:lnTo>
                  <a:lnTo>
                    <a:pt x="2504544" y="23563"/>
                  </a:lnTo>
                  <a:lnTo>
                    <a:pt x="2549568" y="36440"/>
                  </a:lnTo>
                  <a:lnTo>
                    <a:pt x="2593425" y="51932"/>
                  </a:lnTo>
                  <a:lnTo>
                    <a:pt x="2636023" y="69947"/>
                  </a:lnTo>
                  <a:lnTo>
                    <a:pt x="2677272" y="90396"/>
                  </a:lnTo>
                  <a:lnTo>
                    <a:pt x="2717082" y="113187"/>
                  </a:lnTo>
                  <a:lnTo>
                    <a:pt x="2755363" y="138231"/>
                  </a:lnTo>
                  <a:lnTo>
                    <a:pt x="2792024" y="165437"/>
                  </a:lnTo>
                  <a:lnTo>
                    <a:pt x="2826975" y="194715"/>
                  </a:lnTo>
                  <a:lnTo>
                    <a:pt x="2860125" y="225974"/>
                  </a:lnTo>
                  <a:lnTo>
                    <a:pt x="2891384" y="259124"/>
                  </a:lnTo>
                  <a:lnTo>
                    <a:pt x="2920662" y="294075"/>
                  </a:lnTo>
                  <a:lnTo>
                    <a:pt x="2947868" y="330736"/>
                  </a:lnTo>
                  <a:lnTo>
                    <a:pt x="2972912" y="369016"/>
                  </a:lnTo>
                  <a:lnTo>
                    <a:pt x="2995703" y="408827"/>
                  </a:lnTo>
                  <a:lnTo>
                    <a:pt x="3016152" y="450076"/>
                  </a:lnTo>
                  <a:lnTo>
                    <a:pt x="3034167" y="492674"/>
                  </a:lnTo>
                  <a:lnTo>
                    <a:pt x="3049659" y="536530"/>
                  </a:lnTo>
                  <a:lnTo>
                    <a:pt x="3062536" y="581555"/>
                  </a:lnTo>
                  <a:lnTo>
                    <a:pt x="3072709" y="627657"/>
                  </a:lnTo>
                  <a:lnTo>
                    <a:pt x="3080088" y="674746"/>
                  </a:lnTo>
                  <a:lnTo>
                    <a:pt x="3084581" y="722732"/>
                  </a:lnTo>
                  <a:lnTo>
                    <a:pt x="3086099" y="771524"/>
                  </a:lnTo>
                  <a:lnTo>
                    <a:pt x="3084581" y="820317"/>
                  </a:lnTo>
                  <a:lnTo>
                    <a:pt x="3080088" y="868303"/>
                  </a:lnTo>
                  <a:lnTo>
                    <a:pt x="3072709" y="915392"/>
                  </a:lnTo>
                  <a:lnTo>
                    <a:pt x="3062536" y="961494"/>
                  </a:lnTo>
                  <a:lnTo>
                    <a:pt x="3049659" y="1006518"/>
                  </a:lnTo>
                  <a:lnTo>
                    <a:pt x="3034167" y="1050375"/>
                  </a:lnTo>
                  <a:lnTo>
                    <a:pt x="3016152" y="1092973"/>
                  </a:lnTo>
                  <a:lnTo>
                    <a:pt x="2995703" y="1134222"/>
                  </a:lnTo>
                  <a:lnTo>
                    <a:pt x="2972912" y="1174032"/>
                  </a:lnTo>
                  <a:lnTo>
                    <a:pt x="2947868" y="1212313"/>
                  </a:lnTo>
                  <a:lnTo>
                    <a:pt x="2920662" y="1248974"/>
                  </a:lnTo>
                  <a:lnTo>
                    <a:pt x="2891384" y="1283925"/>
                  </a:lnTo>
                  <a:lnTo>
                    <a:pt x="2860125" y="1317075"/>
                  </a:lnTo>
                  <a:lnTo>
                    <a:pt x="2826975" y="1348334"/>
                  </a:lnTo>
                  <a:lnTo>
                    <a:pt x="2792024" y="1377612"/>
                  </a:lnTo>
                  <a:lnTo>
                    <a:pt x="2755363" y="1404818"/>
                  </a:lnTo>
                  <a:lnTo>
                    <a:pt x="2717082" y="1429862"/>
                  </a:lnTo>
                  <a:lnTo>
                    <a:pt x="2677272" y="1452653"/>
                  </a:lnTo>
                  <a:lnTo>
                    <a:pt x="2636023" y="1473102"/>
                  </a:lnTo>
                  <a:lnTo>
                    <a:pt x="2593425" y="1491117"/>
                  </a:lnTo>
                  <a:lnTo>
                    <a:pt x="2549568" y="1506609"/>
                  </a:lnTo>
                  <a:lnTo>
                    <a:pt x="2504544" y="1519486"/>
                  </a:lnTo>
                  <a:lnTo>
                    <a:pt x="2458442" y="1529660"/>
                  </a:lnTo>
                  <a:lnTo>
                    <a:pt x="2411353" y="1537038"/>
                  </a:lnTo>
                  <a:lnTo>
                    <a:pt x="2363367" y="1541532"/>
                  </a:lnTo>
                  <a:lnTo>
                    <a:pt x="2314574" y="1543049"/>
                  </a:lnTo>
                  <a:lnTo>
                    <a:pt x="771524" y="1543049"/>
                  </a:lnTo>
                  <a:lnTo>
                    <a:pt x="722732" y="1541532"/>
                  </a:lnTo>
                  <a:lnTo>
                    <a:pt x="674746" y="1537038"/>
                  </a:lnTo>
                  <a:lnTo>
                    <a:pt x="627657" y="1529660"/>
                  </a:lnTo>
                  <a:lnTo>
                    <a:pt x="581555" y="1519486"/>
                  </a:lnTo>
                  <a:lnTo>
                    <a:pt x="536530" y="1506609"/>
                  </a:lnTo>
                  <a:lnTo>
                    <a:pt x="492674" y="1491117"/>
                  </a:lnTo>
                  <a:lnTo>
                    <a:pt x="450076" y="1473102"/>
                  </a:lnTo>
                  <a:lnTo>
                    <a:pt x="408827" y="1452653"/>
                  </a:lnTo>
                  <a:lnTo>
                    <a:pt x="369016" y="1429862"/>
                  </a:lnTo>
                  <a:lnTo>
                    <a:pt x="330736" y="1404818"/>
                  </a:lnTo>
                  <a:lnTo>
                    <a:pt x="294075" y="1377612"/>
                  </a:lnTo>
                  <a:lnTo>
                    <a:pt x="259124" y="1348334"/>
                  </a:lnTo>
                  <a:lnTo>
                    <a:pt x="225974" y="1317075"/>
                  </a:lnTo>
                  <a:lnTo>
                    <a:pt x="194715" y="1283925"/>
                  </a:lnTo>
                  <a:lnTo>
                    <a:pt x="165437" y="1248974"/>
                  </a:lnTo>
                  <a:lnTo>
                    <a:pt x="138231" y="1212313"/>
                  </a:lnTo>
                  <a:lnTo>
                    <a:pt x="113187" y="1174032"/>
                  </a:lnTo>
                  <a:lnTo>
                    <a:pt x="90396" y="1134222"/>
                  </a:lnTo>
                  <a:lnTo>
                    <a:pt x="69947" y="1092973"/>
                  </a:lnTo>
                  <a:lnTo>
                    <a:pt x="51932" y="1050375"/>
                  </a:lnTo>
                  <a:lnTo>
                    <a:pt x="36440" y="1006518"/>
                  </a:lnTo>
                  <a:lnTo>
                    <a:pt x="23563" y="961494"/>
                  </a:lnTo>
                  <a:lnTo>
                    <a:pt x="13389" y="915392"/>
                  </a:lnTo>
                  <a:lnTo>
                    <a:pt x="6011" y="868303"/>
                  </a:lnTo>
                  <a:lnTo>
                    <a:pt x="1517" y="820317"/>
                  </a:lnTo>
                  <a:lnTo>
                    <a:pt x="0" y="771524"/>
                  </a:lnTo>
                  <a:lnTo>
                    <a:pt x="1517" y="722732"/>
                  </a:lnTo>
                  <a:lnTo>
                    <a:pt x="6011" y="674746"/>
                  </a:lnTo>
                  <a:lnTo>
                    <a:pt x="13389" y="627657"/>
                  </a:lnTo>
                  <a:lnTo>
                    <a:pt x="23563" y="581555"/>
                  </a:lnTo>
                  <a:lnTo>
                    <a:pt x="36440" y="536530"/>
                  </a:lnTo>
                  <a:lnTo>
                    <a:pt x="51932" y="492674"/>
                  </a:lnTo>
                  <a:lnTo>
                    <a:pt x="69947" y="450076"/>
                  </a:lnTo>
                  <a:lnTo>
                    <a:pt x="90396" y="408827"/>
                  </a:lnTo>
                  <a:lnTo>
                    <a:pt x="113187" y="369016"/>
                  </a:lnTo>
                  <a:lnTo>
                    <a:pt x="138231" y="330736"/>
                  </a:lnTo>
                  <a:lnTo>
                    <a:pt x="165437" y="294075"/>
                  </a:lnTo>
                  <a:lnTo>
                    <a:pt x="194715" y="259124"/>
                  </a:lnTo>
                  <a:lnTo>
                    <a:pt x="225974" y="225974"/>
                  </a:lnTo>
                  <a:lnTo>
                    <a:pt x="259124" y="194715"/>
                  </a:lnTo>
                  <a:lnTo>
                    <a:pt x="294075" y="165437"/>
                  </a:lnTo>
                  <a:lnTo>
                    <a:pt x="330736" y="138231"/>
                  </a:lnTo>
                  <a:lnTo>
                    <a:pt x="369016" y="113187"/>
                  </a:lnTo>
                  <a:lnTo>
                    <a:pt x="408827" y="90396"/>
                  </a:lnTo>
                  <a:lnTo>
                    <a:pt x="450076" y="69947"/>
                  </a:lnTo>
                  <a:lnTo>
                    <a:pt x="492674" y="51932"/>
                  </a:lnTo>
                  <a:lnTo>
                    <a:pt x="536530" y="36440"/>
                  </a:lnTo>
                  <a:lnTo>
                    <a:pt x="581555" y="23563"/>
                  </a:lnTo>
                  <a:lnTo>
                    <a:pt x="627657" y="13389"/>
                  </a:lnTo>
                  <a:lnTo>
                    <a:pt x="674746" y="6011"/>
                  </a:lnTo>
                  <a:lnTo>
                    <a:pt x="722732" y="1517"/>
                  </a:lnTo>
                  <a:lnTo>
                    <a:pt x="771524" y="0"/>
                  </a:lnTo>
                  <a:lnTo>
                    <a:pt x="2314574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70191" y="635317"/>
            <a:ext cx="2145030" cy="420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lang="en-IN" sz="2550" dirty="0" err="1">
                <a:latin typeface="Arial Black"/>
                <a:cs typeface="Arial Black"/>
              </a:rPr>
              <a:t>Infiniy</a:t>
            </a:r>
            <a:r>
              <a:rPr lang="en-IN" sz="2550" dirty="0">
                <a:latin typeface="Arial Black"/>
                <a:cs typeface="Arial Black"/>
              </a:rPr>
              <a:t> Loop</a:t>
            </a:r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8DCC0DBC-583D-459D-BAD2-0360372B4D27}"/>
              </a:ext>
            </a:extLst>
          </p:cNvPr>
          <p:cNvSpPr/>
          <p:nvPr/>
        </p:nvSpPr>
        <p:spPr>
          <a:xfrm>
            <a:off x="2622590" y="2037397"/>
            <a:ext cx="603420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000"/>
              </a:lnSpc>
              <a:buNone/>
            </a:pPr>
            <a:endParaRPr lang="en-US" sz="4000" dirty="0"/>
          </a:p>
        </p:txBody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06F61117-9FF3-4E4D-BC60-71D440885925}"/>
              </a:ext>
            </a:extLst>
          </p:cNvPr>
          <p:cNvSpPr/>
          <p:nvPr/>
        </p:nvSpPr>
        <p:spPr>
          <a:xfrm>
            <a:off x="2622589" y="3348869"/>
            <a:ext cx="4300145" cy="4945341"/>
          </a:xfrm>
          <a:prstGeom prst="roundRect">
            <a:avLst>
              <a:gd name="adj" fmla="val 2597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1" name="Image 0">
            <a:extLst>
              <a:ext uri="{FF2B5EF4-FFF2-40B4-BE49-F238E27FC236}">
                <a16:creationId xmlns:a16="http://schemas.microsoft.com/office/drawing/2014/main" id="{19FCA16D-407D-4F4E-9349-792187CA9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590" y="3326010"/>
            <a:ext cx="4225052" cy="91440"/>
          </a:xfrm>
          <a:prstGeom prst="rect">
            <a:avLst/>
          </a:prstGeom>
        </p:spPr>
      </p:pic>
      <p:pic>
        <p:nvPicPr>
          <p:cNvPr id="42" name="Image 1">
            <a:extLst>
              <a:ext uri="{FF2B5EF4-FFF2-40B4-BE49-F238E27FC236}">
                <a16:creationId xmlns:a16="http://schemas.microsoft.com/office/drawing/2014/main" id="{4A962E17-985C-4239-80EF-4D33F6E9B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946" y="3042761"/>
            <a:ext cx="612338" cy="612338"/>
          </a:xfrm>
          <a:prstGeom prst="rect">
            <a:avLst/>
          </a:prstGeom>
        </p:spPr>
      </p:pic>
      <p:sp>
        <p:nvSpPr>
          <p:cNvPr id="43" name="Text 2">
            <a:extLst>
              <a:ext uri="{FF2B5EF4-FFF2-40B4-BE49-F238E27FC236}">
                <a16:creationId xmlns:a16="http://schemas.microsoft.com/office/drawing/2014/main" id="{1355BAA4-B15D-4876-8FED-410433AF878A}"/>
              </a:ext>
            </a:extLst>
          </p:cNvPr>
          <p:cNvSpPr/>
          <p:nvPr/>
        </p:nvSpPr>
        <p:spPr>
          <a:xfrm>
            <a:off x="2849523" y="385917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Times New Roman" panose="02020603050405020304" pitchFamily="18" charset="0"/>
                <a:ea typeface="Roboto Slab" pitchFamily="34" charset="-122"/>
                <a:cs typeface="Times New Roman" panose="02020603050405020304" pitchFamily="18" charset="0"/>
              </a:rPr>
              <a:t>Research Foundation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D67C1CD9-081A-4B61-9648-10F146840DE2}"/>
              </a:ext>
            </a:extLst>
          </p:cNvPr>
          <p:cNvSpPr/>
          <p:nvPr/>
        </p:nvSpPr>
        <p:spPr>
          <a:xfrm>
            <a:off x="2833314" y="4554359"/>
            <a:ext cx="4435639" cy="3734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CMS Hospital Readmission Reduction Program (HRRP)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30-day hospital readmission prediction studies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Time-series modeling in healthcare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Explainable AI for clinical decision-making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Risk stratification for early intervention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15213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Predictive analytics in population health 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6716A9BB-F069-4476-8038-C59B931B4961}"/>
              </a:ext>
            </a:extLst>
          </p:cNvPr>
          <p:cNvSpPr/>
          <p:nvPr/>
        </p:nvSpPr>
        <p:spPr>
          <a:xfrm>
            <a:off x="7988566" y="3341082"/>
            <a:ext cx="9625051" cy="5078294"/>
          </a:xfrm>
          <a:prstGeom prst="roundRect">
            <a:avLst>
              <a:gd name="adj" fmla="val 2597"/>
            </a:avLst>
          </a:prstGeom>
          <a:solidFill>
            <a:srgbClr val="FBFCF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56" name="Image 4">
            <a:extLst>
              <a:ext uri="{FF2B5EF4-FFF2-40B4-BE49-F238E27FC236}">
                <a16:creationId xmlns:a16="http://schemas.microsoft.com/office/drawing/2014/main" id="{A20FA7A6-C19B-4DF2-A9B0-804F91A47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8154224" y="3333718"/>
            <a:ext cx="9105075" cy="83732"/>
          </a:xfrm>
          <a:prstGeom prst="rect">
            <a:avLst/>
          </a:prstGeom>
        </p:spPr>
      </p:pic>
      <p:pic>
        <p:nvPicPr>
          <p:cNvPr id="57" name="Image 5">
            <a:extLst>
              <a:ext uri="{FF2B5EF4-FFF2-40B4-BE49-F238E27FC236}">
                <a16:creationId xmlns:a16="http://schemas.microsoft.com/office/drawing/2014/main" id="{61F2E9B9-43C7-43B9-B08E-397263EB1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0870" y="3030597"/>
            <a:ext cx="1394922" cy="1394922"/>
          </a:xfrm>
          <a:prstGeom prst="rect">
            <a:avLst/>
          </a:prstGeom>
        </p:spPr>
      </p:pic>
      <p:sp>
        <p:nvSpPr>
          <p:cNvPr id="58" name="Text 13">
            <a:extLst>
              <a:ext uri="{FF2B5EF4-FFF2-40B4-BE49-F238E27FC236}">
                <a16:creationId xmlns:a16="http://schemas.microsoft.com/office/drawing/2014/main" id="{81937C7C-FE18-4B74-BCDF-BA7DFC85081F}"/>
              </a:ext>
            </a:extLst>
          </p:cNvPr>
          <p:cNvSpPr/>
          <p:nvPr/>
        </p:nvSpPr>
        <p:spPr>
          <a:xfrm>
            <a:off x="8166924" y="3850538"/>
            <a:ext cx="8591132" cy="66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92A4F1C7-28CC-46AC-9343-EA01069D5FC1}"/>
              </a:ext>
            </a:extLst>
          </p:cNvPr>
          <p:cNvSpPr/>
          <p:nvPr/>
        </p:nvSpPr>
        <p:spPr>
          <a:xfrm>
            <a:off x="8228735" y="4562957"/>
            <a:ext cx="8591132" cy="2905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MIMIC-III Dataset — Johnson et al., 2016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https://www.nature.com/articles/sdata201635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RETAIN Model — Choi et al., 2016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https://arxiv.org/abs/1608.05745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Deep Learning for EHR —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Rajkomar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2018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https://www.nature.com/articles/s41746-018-0029-1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Chen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2016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https://arxiv.org/abs/1603.02754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LIME — Ribeiro et al., 2016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https://arxiv.org/abs/1602.04938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SHAP — Lundberg &amp; Lee, 2017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https://arxiv.org/abs/1705.07874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</TotalTime>
  <Words>650</Words>
  <Application>Microsoft Office PowerPoint</Application>
  <PresentationFormat>Custom</PresentationFormat>
  <Paragraphs>109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Lucida Sans Unicode</vt:lpstr>
      <vt:lpstr>Times New Roman</vt:lpstr>
      <vt:lpstr>Verdana</vt:lpstr>
      <vt:lpstr>Office Theme</vt:lpstr>
      <vt:lpstr>DATATHON-2026</vt:lpstr>
      <vt:lpstr>ReadmitIQ: AI-Powered Hospital Readmission Prediction Platform</vt:lpstr>
      <vt:lpstr>TECHINICAL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DATATHON-2026 template</dc:title>
  <dc:creator>Dhanashri Mamidwar</dc:creator>
  <cp:keywords>DAHDAR6jl1A,BAG0mhGUt5o,0</cp:keywords>
  <cp:lastModifiedBy>Hi</cp:lastModifiedBy>
  <cp:revision>19</cp:revision>
  <dcterms:created xsi:type="dcterms:W3CDTF">2026-03-21T16:10:03Z</dcterms:created>
  <dcterms:modified xsi:type="dcterms:W3CDTF">2026-03-22T14:02:09Z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2026-03-21T00:00:00Z</vt:filetime>
  </property>
  <property fmtid="{D5CDD505-2E9C-101B-9397-08002B2CF9AE}" pid="5" name="Producer">
    <vt:lpwstr>Canva</vt:lpwstr>
  </property>
</Properties>
</file>